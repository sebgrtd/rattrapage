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a041aba2501433c" /><Relationship Type="http://schemas.openxmlformats.org/officeDocument/2006/relationships/extended-properties" Target="/docProps/app.xml" Id="Rc8836edf896e4cc1" /><Relationship Type="http://schemas.openxmlformats.org/officeDocument/2006/relationships/officeDocument" Target="/ppt/presentation.xml" Id="R3af19c32215e4aa9" /></Relationships>
</file>

<file path=ppt/presentation.xml><?xml version="1.0" encoding="utf-8"?>
<p:presentation xmlns:p="http://schemas.openxmlformats.org/presentationml/2006/main">
  <p:sldMasterIdLst>
    <p:sldMasterId xmlns:r="http://schemas.openxmlformats.org/officeDocument/2006/relationships" id="2147483648" r:id="R4467f9d0bbfd44bf"/>
  </p:sldMasterIdLst>
  <p:notesMasterIdLst>
    <p:notesMasterId xmlns:r="http://schemas.openxmlformats.org/officeDocument/2006/relationships" r:id="Rcb9ed78b997647d2"/>
  </p:notesMasterIdLst>
  <p:sldIdLst>
    <p:sldId xmlns:r="http://schemas.openxmlformats.org/officeDocument/2006/relationships" id="256" r:id="R74ffd5ed4dac4696"/>
    <p:sldId xmlns:r="http://schemas.openxmlformats.org/officeDocument/2006/relationships" id="257" r:id="R6c754ea969504b50"/>
    <p:sldId xmlns:r="http://schemas.openxmlformats.org/officeDocument/2006/relationships" id="258" r:id="Rc560a21190654ef6"/>
    <p:sldId xmlns:r="http://schemas.openxmlformats.org/officeDocument/2006/relationships" id="259" r:id="Rd60d240467d0473f"/>
    <p:sldId xmlns:r="http://schemas.openxmlformats.org/officeDocument/2006/relationships" id="260" r:id="R9d34b765eaef4b93"/>
    <p:sldId xmlns:r="http://schemas.openxmlformats.org/officeDocument/2006/relationships" id="261" r:id="Rdde0573040394a97"/>
    <p:sldId xmlns:r="http://schemas.openxmlformats.org/officeDocument/2006/relationships" id="262" r:id="Rebd7197c65db4abc"/>
    <p:sldId xmlns:r="http://schemas.openxmlformats.org/officeDocument/2006/relationships" id="263" r:id="Re44e2b81c4864eaa"/>
    <p:sldId xmlns:r="http://schemas.openxmlformats.org/officeDocument/2006/relationships" id="264" r:id="Rb63e76745e734180"/>
    <p:sldId xmlns:r="http://schemas.openxmlformats.org/officeDocument/2006/relationships" id="265" r:id="Raeb13ce57dc0497d"/>
    <p:sldId xmlns:r="http://schemas.openxmlformats.org/officeDocument/2006/relationships" id="266" r:id="R9aedd9c2512d4095"/>
    <p:sldId xmlns:r="http://schemas.openxmlformats.org/officeDocument/2006/relationships" id="267" r:id="R2b0a7bfe1c094701"/>
    <p:sldId xmlns:r="http://schemas.openxmlformats.org/officeDocument/2006/relationships" id="268" r:id="R93a4923561594278"/>
    <p:sldId xmlns:r="http://schemas.openxmlformats.org/officeDocument/2006/relationships" id="269" r:id="R25f6dda27ac84ff9"/>
    <p:sldId xmlns:r="http://schemas.openxmlformats.org/officeDocument/2006/relationships" id="270" r:id="R8b0ae5899afd42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95161c1e2145ef" /><Relationship Type="http://schemas.openxmlformats.org/officeDocument/2006/relationships/slideMaster" Target="/ppt/slideMasters/slideMaster1.xml" Id="R4467f9d0bbfd44bf" /><Relationship Type="http://schemas.openxmlformats.org/officeDocument/2006/relationships/notesMaster" Target="/ppt/notesMasters/notesMaster1.xml" Id="Rcb9ed78b997647d2" /><Relationship Type="http://schemas.openxmlformats.org/officeDocument/2006/relationships/presProps" Target="/ppt/presProps.xml" Id="R03b51f4b843e49e1" /><Relationship Type="http://schemas.openxmlformats.org/officeDocument/2006/relationships/tableStyles" Target="/ppt/tableStyles.xml" Id="R63175295a6434256" /><Relationship Type="http://schemas.openxmlformats.org/officeDocument/2006/relationships/slide" Target="/ppt/slides/slide1.xml" Id="R74ffd5ed4dac4696" /><Relationship Type="http://schemas.openxmlformats.org/officeDocument/2006/relationships/slide" Target="/ppt/slides/slide2.xml" Id="R6c754ea969504b50" /><Relationship Type="http://schemas.openxmlformats.org/officeDocument/2006/relationships/slide" Target="/ppt/slides/slide3.xml" Id="Rc560a21190654ef6" /><Relationship Type="http://schemas.openxmlformats.org/officeDocument/2006/relationships/slide" Target="/ppt/slides/slide4.xml" Id="Rd60d240467d0473f" /><Relationship Type="http://schemas.openxmlformats.org/officeDocument/2006/relationships/slide" Target="/ppt/slides/slide5.xml" Id="R9d34b765eaef4b93" /><Relationship Type="http://schemas.openxmlformats.org/officeDocument/2006/relationships/slide" Target="/ppt/slides/slide6.xml" Id="Rdde0573040394a97" /><Relationship Type="http://schemas.openxmlformats.org/officeDocument/2006/relationships/slide" Target="/ppt/slides/slide7.xml" Id="Rebd7197c65db4abc" /><Relationship Type="http://schemas.openxmlformats.org/officeDocument/2006/relationships/slide" Target="/ppt/slides/slide8.xml" Id="Re44e2b81c4864eaa" /><Relationship Type="http://schemas.openxmlformats.org/officeDocument/2006/relationships/slide" Target="/ppt/slides/slide9.xml" Id="Rb63e76745e734180" /><Relationship Type="http://schemas.openxmlformats.org/officeDocument/2006/relationships/slide" Target="/ppt/slides/slide10.xml" Id="Raeb13ce57dc0497d" /><Relationship Type="http://schemas.openxmlformats.org/officeDocument/2006/relationships/slide" Target="/ppt/slides/slide11.xml" Id="R9aedd9c2512d4095" /><Relationship Type="http://schemas.openxmlformats.org/officeDocument/2006/relationships/slide" Target="/ppt/slides/slide12.xml" Id="R2b0a7bfe1c094701" /><Relationship Type="http://schemas.openxmlformats.org/officeDocument/2006/relationships/slide" Target="/ppt/slides/slide13.xml" Id="R93a4923561594278" /><Relationship Type="http://schemas.openxmlformats.org/officeDocument/2006/relationships/slide" Target="/ppt/slides/slide14.xml" Id="R25f6dda27ac84ff9" /><Relationship Type="http://schemas.openxmlformats.org/officeDocument/2006/relationships/slide" Target="/ppt/slides/slide15.xml" Id="R8b0ae5899afd42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358b5990d346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fde1731b694c7c" /><Relationship Type="http://schemas.openxmlformats.org/officeDocument/2006/relationships/notesMaster" Target="/ppt/notesMasters/notesMaster1.xml" Id="R818a33cc4ddd42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69d6f7301d4aaf" /><Relationship Type="http://schemas.openxmlformats.org/officeDocument/2006/relationships/notesMaster" Target="/ppt/notesMasters/notesMaster1.xml" Id="Rf81b5f11b18149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49369c7c3d4fc0" /><Relationship Type="http://schemas.openxmlformats.org/officeDocument/2006/relationships/notesMaster" Target="/ppt/notesMasters/notesMaster1.xml" Id="R14d2c12fafb346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c05df00d554b17" /><Relationship Type="http://schemas.openxmlformats.org/officeDocument/2006/relationships/notesMaster" Target="/ppt/notesMasters/notesMaster1.xml" Id="R9f4ceb03c1f144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8a85e0a3194af3" /><Relationship Type="http://schemas.openxmlformats.org/officeDocument/2006/relationships/notesMaster" Target="/ppt/notesMasters/notesMaster1.xml" Id="Rdb2a605c4b1e4f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e90692e1744edb" /><Relationship Type="http://schemas.openxmlformats.org/officeDocument/2006/relationships/notesMaster" Target="/ppt/notesMasters/notesMaster1.xml" Id="R207169ff626d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b0f4cc57604fb1" /><Relationship Type="http://schemas.openxmlformats.org/officeDocument/2006/relationships/notesMaster" Target="/ppt/notesMasters/notesMaster1.xml" Id="Raf8e5c8813a443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39701a443b4d1b" /><Relationship Type="http://schemas.openxmlformats.org/officeDocument/2006/relationships/notesMaster" Target="/ppt/notesMasters/notesMaster1.xml" Id="R56390d85644c4e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9d8b0859954597" /><Relationship Type="http://schemas.openxmlformats.org/officeDocument/2006/relationships/notesMaster" Target="/ppt/notesMasters/notesMaster1.xml" Id="R9903ceac2a934a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03a8cd48334e92" /><Relationship Type="http://schemas.openxmlformats.org/officeDocument/2006/relationships/notesMaster" Target="/ppt/notesMasters/notesMaster1.xml" Id="Re2913182835b42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2d51961ab643cd" /><Relationship Type="http://schemas.openxmlformats.org/officeDocument/2006/relationships/notesMaster" Target="/ppt/notesMasters/notesMaster1.xml" Id="Rb1fad9488f6d4a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5f7a93450d4747" /><Relationship Type="http://schemas.openxmlformats.org/officeDocument/2006/relationships/notesMaster" Target="/ppt/notesMasters/notesMaster1.xml" Id="R1ce195eb350148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a891fd934d4b6b" /><Relationship Type="http://schemas.openxmlformats.org/officeDocument/2006/relationships/notesMaster" Target="/ppt/notesMasters/notesMaster1.xml" Id="R888edbae596f41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32d94df95f4a3f" /><Relationship Type="http://schemas.openxmlformats.org/officeDocument/2006/relationships/notesMaster" Target="/ppt/notesMasters/notesMaster1.xml" Id="R5603f8fb549649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f50c0457e14d67" /><Relationship Type="http://schemas.openxmlformats.org/officeDocument/2006/relationships/notesMaster" Target="/ppt/notesMasters/notesMaster1.xml" Id="R7e4544ff25ab48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0:00 à 0:30</a:t>
            </a:r>
          </a:p>
          <a:p xmlns:a="http://schemas.openxmlformats.org/drawingml/2006/main">
            <a:r>
              <a:t/>
            </a:r>
          </a:p>
          <a:p xmlns:a="http://schemas.openxmlformats.org/drawingml/2006/main">
            <a:r>
              <a:t>Présenter PulseHub comme un hub local de télémétrie pour une régie événementielle. Le projet fournit le simulateur et le traitement, ainsi que deux interfaces. Le support accompagne une présentation de 17 minutes comprenant 4 minutes de démonstration, puis 3 minutes de questions. Les trois dernières diapositives servent uniquement d’annexes. Le dépôt et sa version v1.0 constituent le rendu.</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https://github.com/sebgrtd/rattrapage/blob/2cd5d183686c8dc2d7c5c25b3c61ea975c7d5915/README.md</a:t>
            </a:r>
          </a:p>
          <a:p xmlns:a="http://schemas.openxmlformats.org/drawingml/2006/main">
            <a:r>
              <a:t>https://github.com/sebgrtd/rattrapage/blob/2cd5d183686c8dc2d7c5c25b3c61ea975c7d5915/docs/soutenance.md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0:30 à 1:30</a:t>
            </a:r>
          </a:p>
          <a:p xmlns:a="http://schemas.openxmlformats.org/drawingml/2006/main">
            <a:r>
              <a:t/>
            </a:r>
          </a:p>
          <a:p xmlns:a="http://schemas.openxmlformats.org/drawingml/2006/main">
            <a:r>
              <a:t>Le scénario du sujet concerne des centaines d’équipements sur un événement : alimentations, contrôleurs LED et amplificateurs. La régie veut repérer les appareils qui chauffent, ceux qui ne répondent plus et les problèmes de réception. La démonstration utilise 50 appareils virtuels à 20 Hz, donc 1 000 trames par seconde nominales. Ce sont de vrais datagrammes UDP sur le loopback local, sans matériel physique ni découverte réseau. Les horloges et la charge du PC peuvent réduire légèrement le débit observé. Au lancement du hub, les compteurs démarrent à zéro.</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https://github.com/sebgrtd/rattrapage/blob/2cd5d183686c8dc2d7c5c25b3c61ea975c7d5915/README.md</a:t>
            </a:r>
          </a:p>
          <a:p xmlns:a="http://schemas.openxmlformats.org/drawingml/2006/main">
            <a:r>
              <a:t>https://github.com/sebgrtd/rattrapage/blob/2cd5d183686c8dc2d7c5c25b3c61ea975c7d5915/src/simulator.ts</a:t>
            </a:r>
          </a:p>
          <a:p xmlns:a="http://schemas.openxmlformats.org/drawingml/2006/main">
            <a:r>
              <a:t>https://github.com/sebgrtd/rattrapage/blob/2cd5d183686c8dc2d7c5c25b3c61ea975c7d5915/src/fleet.ts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1:30 à 3:00</a:t>
            </a:r>
          </a:p>
          <a:p xmlns:a="http://schemas.openxmlformats.org/drawingml/2006/main">
            <a:r>
              <a:t/>
            </a:r>
          </a:p>
          <a:p xmlns:a="http://schemas.openxmlformats.org/drawingml/2006/main">
            <a:r>
              <a:t>Suivre le parcours dans l’ordre. Le simulateur encode une trame par datagramme, puis envoie sur UDP 9000. Le décodeur valide les octets et rend un résultat typé. Le séquenceur décide ce qui est nouveau pour chaque appareil. Fleet maintient les mesures, les compteurs et les temporisations, avec une chaîne de traitements configurable. Les adaptateurs HTTP et SSE exposent une synthèse au web et au CLI. Cette séparation permet de tester le métier sans ouvrir de socket. L’horloge de Fleet s’injecte, ce qui rend les seuils temporels déterministes dans les tests. Node fournit les sockets et HTTP, sans framework serveur ni bibliothèque de parsing binaire.</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https://github.com/sebgrtd/rattrapage/blob/2cd5d183686c8dc2d7c5c25b3c61ea975c7d5915/src/server.ts</a:t>
            </a:r>
          </a:p>
          <a:p xmlns:a="http://schemas.openxmlformats.org/drawingml/2006/main">
            <a:r>
              <a:t>https://github.com/sebgrtd/rattrapage/blob/2cd5d183686c8dc2d7c5c25b3c61ea975c7d5915/src/protocol.ts</a:t>
            </a:r>
          </a:p>
          <a:p xmlns:a="http://schemas.openxmlformats.org/drawingml/2006/main">
            <a:r>
              <a:t>https://github.com/sebgrtd/rattrapage/blob/2cd5d183686c8dc2d7c5c25b3c61ea975c7d5915/src/sequence.ts</a:t>
            </a:r>
          </a:p>
          <a:p xmlns:a="http://schemas.openxmlformats.org/drawingml/2006/main">
            <a:r>
              <a:t>https://github.com/sebgrtd/rattrapage/blob/2cd5d183686c8dc2d7c5c25b3c61ea975c7d5915/src/fleet.ts</a:t>
            </a:r>
          </a:p>
          <a:p xmlns:a="http://schemas.openxmlformats.org/drawingml/2006/main">
            <a:r>
              <a:t>https://github.com/sebgrtd/rattrapage/blob/2cd5d183686c8dc2d7c5c25b3c61ea975c7d5915/src/processing/pipeline.ts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3:00 à 4:30</a:t>
            </a:r>
          </a:p>
          <a:p xmlns:a="http://schemas.openxmlformats.org/drawingml/2006/main">
            <a:r>
              <a:t/>
            </a:r>
          </a:p>
          <a:p xmlns:a="http://schemas.openxmlformats.org/drawingml/2006/main">
            <a:r>
              <a:t>Le protocole impose le big-endian et au plus 512 octets par datagramme. Il contient 15 octets fixes avant les mesures, 3 octets par mesure et un checksum final. La longueur exacte vaut donc 16 + 3 × count. Un heartbeat a count=0 et mesure 16 octets. Une télémétrie à trois mesures fait 25 octets. Le code vérifie la longueur avant les lectures Buffer, puis magic, version, type, longueur exacte, checksum et contenu des mesures. Un résultat invalide augmente un compteur sans interrompre le service. Le XOR de tous les octets, checksum inclus, doit valoir zéro. Ouvrir src/protocol.ts si le jury demande un exemple : readUInt16BE(4) pour deviceId et readInt16BE(offset+1) pour une valeur signée. Le premier test reprend le heartbeat PH-007 du sujet, checksum F6.</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https://github.com/sebgrtd/rattrapage/blob/2cd5d183686c8dc2d7c5c25b3c61ea975c7d5915/src/protocol.ts</a:t>
            </a:r>
          </a:p>
          <a:p xmlns:a="http://schemas.openxmlformats.org/drawingml/2006/main">
            <a:r>
              <a:t>https://github.com/sebgrtd/rattrapage/blob/2cd5d183686c8dc2d7c5c25b3c61ea975c7d5915/test/protocol.test.ts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4:30 à 6:00</a:t>
            </a:r>
          </a:p>
          <a:p xmlns:a="http://schemas.openxmlformats.org/drawingml/2006/main">
            <a:r>
              <a:t/>
            </a:r>
          </a:p>
          <a:p xmlns:a="http://schemas.openxmlformats.org/drawingml/2006/main">
            <a:r>
              <a:t>L’exemple utilise un seul appareil. 10 initialise la session. 12 est nouveau et révèle un trou pour 11. Le second 12 est un doublon. Le 11 qui arrive ensuite est en retard, donc il ne remplace pas l’état de 12 et ne retire pas la perte déjà estimée. La comparaison modulaire traite le passage de 0xffffffff à 0 comme une progression de un. La moitié de l’espace uint32 marque la limite d’ordre ambigu. Les doublons et retards ne rafraîchissent ni la présence ni les mesures. Un redémarrage demande une baisse cohérente de séquence et d’uptime, confirmée sur trois trames. L’absence de bootId laisse des cas ambigus que le README documente.</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https://github.com/sebgrtd/rattrapage/blob/2cd5d183686c8dc2d7c5c25b3c61ea975c7d5915/src/sequence.ts</a:t>
            </a:r>
          </a:p>
          <a:p xmlns:a="http://schemas.openxmlformats.org/drawingml/2006/main">
            <a:r>
              <a:t>https://github.com/sebgrtd/rattrapage/blob/2cd5d183686c8dc2d7c5c25b3c61ea975c7d5915/test/restart.test.ts</a:t>
            </a:r>
          </a:p>
          <a:p xmlns:a="http://schemas.openxmlformats.org/drawingml/2006/main">
            <a:r>
              <a:t>https://github.com/sebgrtd/rattrapage/blob/2cd5d183686c8dc2d7c5c25b3c61ea975c7d5915/README.md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6:00 à 7:30</a:t>
            </a:r>
          </a:p>
          <a:p xmlns:a="http://schemas.openxmlformats.org/drawingml/2006/main">
            <a:r>
              <a:t/>
            </a:r>
          </a:p>
          <a:p xmlns:a="http://schemas.openxmlformats.org/drawingml/2006/main">
            <a:r>
              <a:t>Avec la configuration par défaut, la température supérieure à 70 °C commence une observation. L’alerte requiert trois secondes de dépassement continu constaté avec des mesures fraîches. À 70 °C exactement, le seuil haut ne se déclenche pas. Une valeur normale réarme la règle et une longue absence casse la continuité. La configuration comporte aussi une limite basse de température à -20 °C, ainsi que des bornes de tension 21 à 26 V et de courant 0 à 8 A temporisées à 500 ms. Après deux secondes sans nouvelle mesure, cette mesure devient périmée. Après trois secondes sans trame acceptée, l’appareil est hors ligne. Un heartbeat garde l’appareil présent sans actualiser la température. Les états sont exclusifs avec priorité au hors ligne, puis à l’alerte.</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https://github.com/sebgrtd/rattrapage/blob/2cd5d183686c8dc2d7c5c25b3c61ea975c7d5915/config/default.json</a:t>
            </a:r>
          </a:p>
          <a:p xmlns:a="http://schemas.openxmlformats.org/drawingml/2006/main">
            <a:r>
              <a:t>https://github.com/sebgrtd/rattrapage/blob/2cd5d183686c8dc2d7c5c25b3c61ea975c7d5915/src/fleet.ts</a:t>
            </a:r>
          </a:p>
          <a:p xmlns:a="http://schemas.openxmlformats.org/drawingml/2006/main">
            <a:r>
              <a:t>https://github.com/sebgrtd/rattrapage/blob/2cd5d183686c8dc2d7c5c25b3c61ea975c7d5915/src/processing/alerts.ts</a:t>
            </a:r>
          </a:p>
          <a:p xmlns:a="http://schemas.openxmlformats.org/drawingml/2006/main">
            <a:r>
              <a:t>https://github.com/sebgrtd/rattrapage/blob/2cd5d183686c8dc2d7c5c25b3c61ea975c7d5915/test/fleet.test.ts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7:30 à 8:15</a:t>
            </a:r>
          </a:p>
          <a:p xmlns:a="http://schemas.openxmlformats.org/drawingml/2006/main">
            <a:r>
              <a:t/>
            </a:r>
          </a:p>
          <a:p xmlns:a="http://schemas.openxmlformats.org/drawingml/2006/main">
            <a:r>
              <a:t>La vue globale répond à deux questions : où intervenir et peut-on faire confiance aux mesures ? Les compteurs de flotte et les points d’attention montrent les appareils concernés. La réception distingue invalides, pertes estimées et duplications ou retards. La table complète permet de rechercher un identifiant, de filtrer les états et de lire les moyennes. Le navigateur reçoit une synthèse SSE toutes les 500 ms, tandis que le hub traite toutes les trames. Consulter l’historique affiche un instantané explicite sans arrêter la réception. Cette capture provient de la démo interactive : PH-007 est hors ligne et PH-009 est en alerte. Les valeurs de cette image sont figées, le vrai dashboard reste dynamique.</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https://github.com/sebgrtd/rattrapage/blob/2cd5d183686c8dc2d7c5c25b3c61ea975c7d5915/docs/dashboard.png</a:t>
            </a:r>
          </a:p>
          <a:p xmlns:a="http://schemas.openxmlformats.org/drawingml/2006/main">
            <a:r>
              <a:t>https://github.com/sebgrtd/rattrapage/blob/2cd5d183686c8dc2d7c5c25b3c61ea975c7d5915/public/app.js</a:t>
            </a:r>
          </a:p>
          <a:p xmlns:a="http://schemas.openxmlformats.org/drawingml/2006/main">
            <a:r>
              <a:t>https://github.com/sebgrtd/rattrapage/blob/2cd5d183686c8dc2d7c5c25b3c61ea975c7d5915/src/server.ts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8:15 à 9:00</a:t>
            </a:r>
          </a:p>
          <a:p xmlns:a="http://schemas.openxmlformats.org/drawingml/2006/main">
            <a:r>
              <a:t/>
            </a:r>
          </a:p>
          <a:p xmlns:a="http://schemas.openxmlformats.org/drawingml/2006/main">
            <a:r>
              <a:t>Le CLI lit le même état métier par HTTP. Il attend 500 ms après chaque réponse, ce qui évite les requêtes concurrentes non bornées. Il propose navigation dans les appareils, recherche, filtres, pause et historique. La pause fige seulement l’affichage de ce client, le hub continue de recevoir. Les modes En direct, Pause, Historique et Hub déconnecté restent distincts. Le rendu fonctionne en ANSI, s’adapte à la taille du terminal et propose une sortie texte avec --once ou sans TTY. La capture est un export du moteur de rendu avec les vraies données du hub local. Montrer brièvement npm run cli si le temps le permet, sans refaire toute la démonstration web.</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https://github.com/sebgrtd/rattrapage/blob/2cd5d183686c8dc2d7c5c25b3c61ea975c7d5915/docs/terminal.png</a:t>
            </a:r>
          </a:p>
          <a:p xmlns:a="http://schemas.openxmlformats.org/drawingml/2006/main">
            <a:r>
              <a:t>https://github.com/sebgrtd/rattrapage/blob/2cd5d183686c8dc2d7c5c25b3c61ea975c7d5915/src/cli.ts</a:t>
            </a:r>
          </a:p>
          <a:p xmlns:a="http://schemas.openxmlformats.org/drawingml/2006/main">
            <a:r>
              <a:t>https://github.com/sebgrtd/rattrapage/blob/2cd5d183686c8dc2d7c5c25b3c61ea975c7d5915/src/terminal/dashboard.ts</a:t>
            </a:r>
          </a:p>
          <a:p xmlns:a="http://schemas.openxmlformats.org/drawingml/2006/main">
            <a:r>
              <a:t>https://github.com/sebgrtd/rattrapage/blob/2cd5d183686c8dc2d7c5c25b3c61ea975c7d5915/test/terminal.test.ts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9:00 à 13:00</a:t>
            </a:r>
          </a:p>
          <a:p xmlns:a="http://schemas.openxmlformats.org/drawingml/2006/main">
            <a:r>
              <a:t/>
            </a:r>
          </a:p>
          <a:p xmlns:a="http://schemas.openxmlformats.org/drawingml/2006/main">
            <a:r>
              <a:t>Préparer trois terminaux : npm run hub, npm run demo:interactive, npm run cli. Un seul simulateur utilise les identifiants PH-001 à PH-050. Sur http://127.0.0.1:3100, choisir PH-009. Déclencher une surchauffe et attendre l’alerte après trois secondes, puis rétablir le nominal. Couper l’émission, attendre les mesures périmées puis le hors ligne, et reprendre. Redémarrer l’appareil après au moins une seconde de télémétrie et observer le compteur de redémarrages. Vérifier le même effet sur le dashboard http://127.0.0.1:3000. Les boutons changent les futures trames du simulateur, jamais directement l’état du hub. Pour montrer checksum faux, doublons et désordre, arrêter le simulateur interactif avec Ctrl+C puis lancer npm run demo. Garder cette dernière étape brève et expliquer les compteurs. Les captures et les annexes constituent le secours si la démonstration live échoue.</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https://github.com/sebgrtd/rattrapage/blob/2cd5d183686c8dc2d7c5c25b3c61ea975c7d5915/docs/demo-interactive.md</a:t>
            </a:r>
          </a:p>
          <a:p xmlns:a="http://schemas.openxmlformats.org/drawingml/2006/main">
            <a:r>
              <a:t>https://github.com/sebgrtd/rattrapage/blob/2cd5d183686c8dc2d7c5c25b3c61ea975c7d5915/docs/demo-interactive.png</a:t>
            </a:r>
          </a:p>
          <a:p xmlns:a="http://schemas.openxmlformats.org/drawingml/2006/main">
            <a:r>
              <a:t>https://github.com/sebgrtd/rattrapage/blob/2cd5d183686c8dc2d7c5c25b3c61ea975c7d5915/src/demo/server.ts</a:t>
            </a:r>
          </a:p>
          <a:p xmlns:a="http://schemas.openxmlformats.org/drawingml/2006/main">
            <a:r>
              <a:t>https://github.com/sebgrtd/rattrapage/blob/2cd5d183686c8dc2d7c5c25b3c61ea975c7d5915/src/simulator.ts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13:00 à 14:30</a:t>
            </a:r>
          </a:p>
          <a:p xmlns:a="http://schemas.openxmlformats.org/drawingml/2006/main">
            <a:r>
              <a:t/>
            </a:r>
          </a:p>
          <a:p xmlns:a="http://schemas.openxmlformats.org/drawingml/2006/main">
            <a:r>
              <a:t>Le projet implémente les six pistes de bonus du sujet. La chaîne JSON choisit filtres, agrégations et alertes, avec des factories enregistrées pour ajouter un type. Les règles d’alerte intègrent une durée. L’historique JSONL se relit après un redémarrage, avec deux fichiers bornés à 10 Mio chacun. Le séquenceur gère le wrap uint32 et confirme les redémarrages. Le benchmark distingue débit UDP et calcul métier isolé. La CI exécute lint, TypeScript strict, tests et compilation sur Linux et Windows. Les 39 tests couvrent entre autres le décodeur, les seuils temporels, les vrais sockets UDP/HTTP/SSE, les scénarios interactifs et le CLI. Le nombre de tests ne remplace pas une explication de leur portée. Montrer le premier test de protocole et un test de fraîcheur avec horloge injectée si demandé.</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https://github.com/sebgrtd/rattrapage/blob/2cd5d183686c8dc2d7c5c25b3c61ea975c7d5915/README.md</a:t>
            </a:r>
          </a:p>
          <a:p xmlns:a="http://schemas.openxmlformats.org/drawingml/2006/main">
            <a:r>
              <a:t>https://github.com/sebgrtd/rattrapage/blob/2cd5d183686c8dc2d7c5c25b3c61ea975c7d5915/test/protocol.test.ts</a:t>
            </a:r>
          </a:p>
          <a:p xmlns:a="http://schemas.openxmlformats.org/drawingml/2006/main">
            <a:r>
              <a:t>https://github.com/sebgrtd/rattrapage/blob/2cd5d183686c8dc2d7c5c25b3c61ea975c7d5915/test/fleet.test.ts</a:t>
            </a:r>
          </a:p>
          <a:p xmlns:a="http://schemas.openxmlformats.org/drawingml/2006/main">
            <a:r>
              <a:t>https://github.com/sebgrtd/rattrapage/blob/2cd5d183686c8dc2d7c5c25b3c61ea975c7d5915/test/demo.test.ts</a:t>
            </a:r>
          </a:p>
          <a:p xmlns:a="http://schemas.openxmlformats.org/drawingml/2006/main">
            <a:r>
              <a:t>https://github.com/sebgrtd/rattrapage/blob/2cd5d183686c8dc2d7c5c25b3c61ea975c7d5915/.github/workflows/ci.yml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14:30 à 16:00</a:t>
            </a:r>
          </a:p>
          <a:p xmlns:a="http://schemas.openxmlformats.org/drawingml/2006/main">
            <a:r>
              <a:t/>
            </a:r>
          </a:p>
          <a:p xmlns:a="http://schemas.openxmlformats.org/drawingml/2006/main">
            <a:r>
              <a:t>Le rapport date du 30 octobre 2026. Quatre processus d’émission avec identifiants disjoints sollicitent le hub pendant dix secondes par palier. Le hub garde sa chaîne JSON, la persistance, un lecteur SSE et des consultations HTTP à 2 Hz. Le palier réussit si l’émetteur atteint 95 % de sa cible, si au moins 99,9 % des paquets arrivent, et sans erreur observée HTTP, SSE ou historique. Le plus haut palier testé qui respecte les critères est 40 000 trames/s demandées, avec 39 949 émises et 39 940 reçues par seconde estimées, livraison 99,9795 %. À 80 000 demandées, la livraison tombe à 82,8331 %. Le résultat de 332 041 trames/s vient séparément de Fleet.receive sur des trames préencodées, sans UDP, HTTP ni disque. Il ne décrit pas une capacité réseau soutenue. La machine exécute aussi d’autres applications. Il faudrait des essais longs et multi-machines pour estimer le comportement en exploitation.</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https://github.com/sebgrtd/rattrapage/blob/2cd5d183686c8dc2d7c5c25b3c61ea975c7d5915/docs/benchmark-isolated.json</a:t>
            </a:r>
          </a:p>
          <a:p xmlns:a="http://schemas.openxmlformats.org/drawingml/2006/main">
            <a:r>
              <a:t>https://github.com/sebgrtd/rattrapage/blob/2cd5d183686c8dc2d7c5c25b3c61ea975c7d5915/scripts/benchmark-isolated.ts</a:t>
            </a:r>
          </a:p>
          <a:p xmlns:a="http://schemas.openxmlformats.org/drawingml/2006/main">
            <a:r>
              <a:t>https://github.com/sebgrtd/rattrapage/blob/2cd5d183686c8dc2d7c5c25b3c61ea975c7d5915/README.md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16:00 à 17:00, puis questions jusqu’à 20:00</a:t>
            </a:r>
          </a:p>
          <a:p xmlns:a="http://schemas.openxmlformats.org/drawingml/2006/main">
            <a:r>
              <a:t/>
            </a:r>
          </a:p>
          <a:p xmlns:a="http://schemas.openxmlformats.org/drawingml/2006/main">
            <a:r>
              <a:t>Présenter les limites avant les questions. Le protocole ne fournit pas de bootId : la détection de redémarrage reste une heuristique sur plusieurs trames. L’écoute locale limite l’exposition, mais une exploitation sur un réseau ouvert demanderait authentification, chiffrement et gestion d’identités. Le checksum XOR détecte certaines corruptions et ne protège pas d’une falsification. L’historique est périodique et borné, donc un arrêt brutal peut perdre une écriture. L’IA a contribué de manière significative : lecture du sujet, propositions d’architecture, génération et correction du code, tests, interfaces, documentation et support de soutenance. Cette assistance est déclarée dans le README. Expliquer uniquement ce qui a réellement été compris, et ouvrir le code pour argumenter. Le dépôt Git au tag v1.0 est le rendu de référence. Les annexes suivantes servent à répondre aux questions, sans les dérouler systématiquement.</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https://github.com/sebgrtd/rattrapage/blob/2cd5d183686c8dc2d7c5c25b3c61ea975c7d5915/README.md</a:t>
            </a:r>
          </a:p>
          <a:p xmlns:a="http://schemas.openxmlformats.org/drawingml/2006/main">
            <a:r>
              <a:t>https://github.com/sebgrtd/rattrapage/blob/2cd5d183686c8dc2d7c5c25b3c61ea975c7d5915/docs/soutenance.md</a:t>
            </a:r>
          </a:p>
          <a:p xmlns:a="http://schemas.openxmlformats.org/drawingml/2006/main">
            <a:r>
              <a:t>https://github.com/sebgrtd/rattrapage/blob/2cd5d183686c8dc2d7c5c25b3c61ea975c7d5915/src/sequence.ts</a:t>
            </a:r>
          </a:p>
          <a:p xmlns:a="http://schemas.openxmlformats.org/drawingml/2006/main">
            <a:r>
              <a:t>https://github.com/sebgrtd/rattrapage/blob/2cd5d183686c8dc2d7c5c25b3c61ea975c7d5915/src/history.ts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Question technique, hors parcours principal</a:t>
            </a:r>
          </a:p>
          <a:p xmlns:a="http://schemas.openxmlformats.org/drawingml/2006/main">
            <a:r>
              <a:t/>
            </a:r>
          </a:p>
          <a:p xmlns:a="http://schemas.openxmlformats.org/drawingml/2006/main">
            <a:r>
              <a:t>Un datagramme contient exactement une trame de 512 octets au maximum. Les champs multi-octets utilisent le big-endian. Chaque mesure comprend metricId sur un octet et value signée sur deux octets. Le checksum final est le XOR de tous les octets précédents. La trame de référence du sujet est 50 48 01 02 00 07 00 00 00 01 00 00 03 E8 00 F6. Elle encode un heartbeat de l’appareil 7, séquence 1, uptime 1000 ms, sans mesure. Le premier test du décodeur utilise cette trame.</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https://github.com/sebgrtd/rattrapage/blob/2cd5d183686c8dc2d7c5c25b3c61ea975c7d5915/src/protocol.ts</a:t>
            </a:r>
          </a:p>
          <a:p xmlns:a="http://schemas.openxmlformats.org/drawingml/2006/main">
            <a:r>
              <a:t>https://github.com/sebgrtd/rattrapage/blob/2cd5d183686c8dc2d7c5c25b3c61ea975c7d5915/test/protocol.test.ts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Question technique, hors parcours principal</a:t>
            </a:r>
          </a:p>
          <a:p xmlns:a="http://schemas.openxmlformats.org/drawingml/2006/main">
            <a:r>
              <a:t/>
            </a:r>
          </a:p>
          <a:p xmlns:a="http://schemas.openxmlformats.org/drawingml/2006/main">
            <a:r>
              <a:t>Le JSON définit les instances et paramètres des types enregistrés. Cet exemple est l’agrégation de température du fichier par défaut. Ajouter une moyenne ou modifier sa fenêtre ne demande que de changer la configuration. Ajouter une nouvelle catégorie de traitement demande une factory locale qui valide la configuration et crée une étape respectant ProcessingStep, puis son enregistrement dans stepFactories. Les étapes existantes restent inchangées. La validation impose des identifiants uniques, au plus 32 étapes, et les filtres avant les calculs pour éviter des mises à jour partielles. Les fenêtres ont une durée et un nombre d’échantillons maximum. Le JSON ne charge aucun code distant.</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https://github.com/sebgrtd/rattrapage/blob/2cd5d183686c8dc2d7c5c25b3c61ea975c7d5915/config/default.json</a:t>
            </a:r>
          </a:p>
          <a:p xmlns:a="http://schemas.openxmlformats.org/drawingml/2006/main">
            <a:r>
              <a:t>https://github.com/sebgrtd/rattrapage/blob/2cd5d183686c8dc2d7c5c25b3c61ea975c7d5915/src/processing/types.ts</a:t>
            </a:r>
          </a:p>
          <a:p xmlns:a="http://schemas.openxmlformats.org/drawingml/2006/main">
            <a:r>
              <a:t>https://github.com/sebgrtd/rattrapage/blob/2cd5d183686c8dc2d7c5c25b3c61ea975c7d5915/src/processing/pipeline.ts</a:t>
            </a:r>
          </a:p>
          <a:p xmlns:a="http://schemas.openxmlformats.org/drawingml/2006/main">
            <a:r>
              <a:t>https://github.com/sebgrtd/rattrapage/blob/2cd5d183686c8dc2d7c5c25b3c61ea975c7d5915/docs/pipeline.md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ORAL : Préparation et secours</a:t>
            </a:r>
          </a:p>
          <a:p xmlns:a="http://schemas.openxmlformats.org/drawingml/2006/main">
            <a:r>
              <a:t/>
            </a:r>
          </a:p>
          <a:p xmlns:a="http://schemas.openxmlformats.org/drawingml/2006/main">
            <a:r>
              <a:t>Avant de commencer, ouvrir les trois terminaux dans le dépôt. Si les compteurs doivent repartir de zéro, arrêter et relancer le hub. L’historique déjà écrit reste conservé. Les commandes ci-dessous suffisent après npm ci. Utiliser la démo interactive pour les incidents pilotés et npm run demo pour les défauts de transport. Toujours arrêter le simulateur précédent avant d’en démarrer un autre. Si une interface ne répond plus pendant la soutenance, utiliser les captures incluses pour expliquer l’état, puis montrer les tests et le code. Pour la sortie texte ponctuelle du CLI sous PowerShell : npm.cmd run cli -- --once --no-color. L’historique et les compteurs sont ceux du hub.</a:t>
            </a:r>
          </a:p>
          <a:p xmlns:a="http://schemas.openxmlformats.org/drawingml/2006/main">
            <a:r>
              <a:t/>
            </a:r>
          </a:p>
          <a:p xmlns:a="http://schemas.openxmlformats.org/drawingml/2006/main">
            <a:r>
              <a:t>SOURCES</a:t>
            </a:r>
          </a:p>
          <a:p xmlns:a="http://schemas.openxmlformats.org/drawingml/2006/main">
            <a:r>
              <a:t>https://github.com/sebgrtd/rattrapage/blob/2cd5d183686c8dc2d7c5c25b3c61ea975c7d5915/README.md</a:t>
            </a:r>
          </a:p>
          <a:p xmlns:a="http://schemas.openxmlformats.org/drawingml/2006/main">
            <a:r>
              <a:t>https://github.com/sebgrtd/rattrapage/blob/2cd5d183686c8dc2d7c5c25b3c61ea975c7d5915/docs/demo-interactive.md</a:t>
            </a:r>
          </a:p>
          <a:p xmlns:a="http://schemas.openxmlformats.org/drawingml/2006/main">
            <a:r>
              <a:t>https://github.com/sebgrtd/rattrapage/blob/2cd5d183686c8dc2d7c5c25b3c61ea975c7d5915/docs/terminal.md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2565f979f24a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c2ae9652de44bd" /><Relationship Type="http://schemas.openxmlformats.org/officeDocument/2006/relationships/slideLayout" Target="/ppt/slideLayouts/slideLayout1.xml" Id="R21b65318622a47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b65318622a47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49596b84f34c34" /><Relationship Type="http://schemas.openxmlformats.org/officeDocument/2006/relationships/notesSlide" Target="/ppt/notesSlides/notesSlide1.xml" Id="R04ac78687e6142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97bd5ae1014c83" /><Relationship Type="http://schemas.openxmlformats.org/officeDocument/2006/relationships/notesSlide" Target="/ppt/notesSlides/notesSlide2.xml" Id="Rfefe234118484b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6ebd9150504926" /><Relationship Type="http://schemas.openxmlformats.org/officeDocument/2006/relationships/notesSlide" Target="/ppt/notesSlides/notesSlide3.xml" Id="Rb5487defe59840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2ca78ee12045f4" /><Relationship Type="http://schemas.openxmlformats.org/officeDocument/2006/relationships/notesSlide" Target="/ppt/notesSlides/notesSlide4.xml" Id="Ra931d01ffde644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4906a24c8d4eca" /><Relationship Type="http://schemas.openxmlformats.org/officeDocument/2006/relationships/notesSlide" Target="/ppt/notesSlides/notesSlide5.xml" Id="Rd39feda4296743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2b80f507be47ea" /><Relationship Type="http://schemas.openxmlformats.org/officeDocument/2006/relationships/notesSlide" Target="/ppt/notesSlides/notesSlide6.xml" Id="Rf364356b32474d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705e84439a4ad6" /><Relationship Type="http://schemas.openxmlformats.org/officeDocument/2006/relationships/image" Target="/ppt/media/image.jpeg" Id="Re2e0ea0ad67a4bf8" /><Relationship Type="http://schemas.openxmlformats.org/officeDocument/2006/relationships/notesSlide" Target="/ppt/notesSlides/notesSlide7.xml" Id="R4e161025e5044c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dd787d99ea4383" /><Relationship Type="http://schemas.openxmlformats.org/officeDocument/2006/relationships/image" Target="/ppt/media/image.png" Id="R1c8fd49f85f34a3e" /><Relationship Type="http://schemas.openxmlformats.org/officeDocument/2006/relationships/notesSlide" Target="/ppt/notesSlides/notesSlide8.xml" Id="R2a8afd737f524c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403b710d5014160" /><Relationship Type="http://schemas.openxmlformats.org/officeDocument/2006/relationships/image" Target="/ppt/media/image2.jpeg" Id="Ra95ca70c6a0d4dbe" /><Relationship Type="http://schemas.openxmlformats.org/officeDocument/2006/relationships/notesSlide" Target="/ppt/notesSlides/notesSlide9.xml" Id="Rdf377540b00a47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ac7dfe59a048fe" /><Relationship Type="http://schemas.openxmlformats.org/officeDocument/2006/relationships/notesSlide" Target="/ppt/notesSlides/notesSlide10.xml" Id="R5a987626a2fa41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4e2fb377f844d1" /><Relationship Type="http://schemas.openxmlformats.org/officeDocument/2006/relationships/chart" Target="/ppt/slides/charts/chart1.xml" Id="Rbb88e09e3eb84df1" /><Relationship Type="http://schemas.openxmlformats.org/officeDocument/2006/relationships/notesSlide" Target="/ppt/notesSlides/notesSlide11.xml" Id="Ra242146e467340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82fd9e64d74d1f" /><Relationship Type="http://schemas.openxmlformats.org/officeDocument/2006/relationships/hyperlink" Target="https://github.com/sebgrtd/rattrapage" TargetMode="External" Id="R37fb99d2950a4731" /><Relationship Type="http://schemas.openxmlformats.org/officeDocument/2006/relationships/notesSlide" Target="/ppt/notesSlides/notesSlide12.xml" Id="Ra6681ed3155c41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9491f9e2134b99" /><Relationship Type="http://schemas.openxmlformats.org/officeDocument/2006/relationships/notesSlide" Target="/ppt/notesSlides/notesSlide13.xml" Id="R2b4f045c7aaf46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ca4fa3c0184503" /><Relationship Type="http://schemas.openxmlformats.org/officeDocument/2006/relationships/notesSlide" Target="/ppt/notesSlides/notesSlide14.xml" Id="Rb4845a1dda4344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551b8d13f646c7" /><Relationship Type="http://schemas.openxmlformats.org/officeDocument/2006/relationships/notesSlide" Target="/ppt/notesSlides/notesSlide15.xml" Id="R5ffd4f32fc744f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Émises /s</c:v>
          </c:tx>
          <c:spPr>
            <a:solidFill xmlns:a="http://schemas.openxmlformats.org/drawingml/2006/main">
              <a:srgbClr val="777777"/>
            </a:solidFill>
          </c:spPr>
          <c:cat>
            <c:strRef>
              <c:f>'Chart Data'!$A$2:$A$5</c:f>
              <c:strCache>
                <c:ptCount val="4"/>
                <c:pt idx="0">
                  <c:v>1 000</c:v>
                </c:pt>
                <c:pt idx="1">
                  <c:v>10 000</c:v>
                </c:pt>
                <c:pt idx="2">
                  <c:v>40 000</c:v>
                </c:pt>
                <c:pt idx="3">
                  <c:v>80 000</c:v>
                </c:pt>
              </c:strCache>
            </c:strRef>
          </c:cat>
          <c:val>
            <c:numRef>
              <c:f>'Chart Data'!$B$2:$B$5</c:f>
              <c:numCache>
                <c:formatCode>#,##0</c:formatCode>
                <c:ptCount val="4"/>
                <c:pt idx="0">
                  <c:v>998</c:v>
                </c:pt>
                <c:pt idx="1">
                  <c:v>9986</c:v>
                </c:pt>
                <c:pt idx="2">
                  <c:v>39949</c:v>
                </c:pt>
                <c:pt idx="3">
                  <c:v>79927</c:v>
                </c:pt>
              </c:numCache>
            </c:numRef>
          </c:val>
        </c:ser>
        <c:ser>
          <c:idx val="1"/>
          <c:order val="1"/>
          <c:tx>
            <c:v>Reçues /s</c:v>
          </c:tx>
          <c:spPr>
            <a:solidFill xmlns:a="http://schemas.openxmlformats.org/drawingml/2006/main">
              <a:srgbClr val="FF9900"/>
            </a:solidFill>
          </c:spPr>
          <c:cat>
            <c:strRef>
              <c:f>'Chart Data'!$C$2:$C$5</c:f>
              <c:strCache>
                <c:ptCount val="4"/>
                <c:pt idx="0">
                  <c:v>1 000</c:v>
                </c:pt>
                <c:pt idx="1">
                  <c:v>10 000</c:v>
                </c:pt>
                <c:pt idx="2">
                  <c:v>40 000</c:v>
                </c:pt>
                <c:pt idx="3">
                  <c:v>80 000</c:v>
                </c:pt>
              </c:strCache>
            </c:strRef>
          </c:cat>
          <c:val>
            <c:numRef>
              <c:f>'Chart Data'!$D$2:$D$5</c:f>
              <c:numCache>
                <c:formatCode>#,##0</c:formatCode>
                <c:ptCount val="4"/>
                <c:pt idx="0">
                  <c:v>998</c:v>
                </c:pt>
                <c:pt idx="1">
                  <c:v>9986</c:v>
                </c:pt>
                <c:pt idx="2">
                  <c:v>39940</c:v>
                </c:pt>
                <c:pt idx="3">
                  <c:v>66206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B3B3B3"/>
                    </a:solidFill>
                    <a:latin typeface="Arial"/>
                    <a:ea typeface="Arial"/>
                    <a:cs typeface="Arial"/>
                  </a:rPr>
                  <a:t>Cible demandée, trames/s</a:t>
                </a:r>
              </a:p>
            </c:rich>
          </c:tx>
          <c:overlay val="0"/>
          <c:txPr>
            <a:bodyPr xmlns:a="http://schemas.openxmlformats.org/drawingml/2006/main" anchorCtr="1"/>
            <a:lstStyle xmlns:a="http://schemas.openxmlformats.org/drawingml/2006/main"/>
            <a:p xmlns:a="http://schemas.openxmlformats.org/drawingml/2006/main">
              <a:pPr>
                <a:defRPr sz="1575">
                  <a:solidFill>
                    <a:srgbClr val="B3B3B3"/>
                  </a:solidFill>
                  <a:latin typeface="Arial"/>
                  <a:ea typeface="Arial"/>
                  <a:cs typeface="Arial"/>
                </a:defRPr>
              </a:pPr>
            </a:p>
          </c:txPr>
        </c:title>
        <c:numFmt formatCode="General"/>
        <c:majorTickMark val="none"/>
        <c:minorTickMark val="none"/>
        <c:spPr>
          <a:ln xmlns:a="http://schemas.openxmlformats.org/drawingml/2006/main" w="9525">
            <a:solidFill>
              <a:srgbClr val="333333"/>
            </a:solidFill>
          </a:ln>
        </c:spPr>
        <c:txPr>
          <a:bodyPr xmlns:a="http://schemas.openxmlformats.org/drawingml/2006/main" anchorCtr="1"/>
          <a:lstStyle xmlns:a="http://schemas.openxmlformats.org/drawingml/2006/main"/>
          <a:p xmlns:a="http://schemas.openxmlformats.org/drawingml/2006/main">
            <a:pPr>
              <a:defRPr sz="1575">
                <a:solidFill>
                  <a:srgbClr val="FFFFFF"/>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B3B3B3"/>
                </a:solidFill>
                <a:latin typeface="Arial"/>
                <a:ea typeface="Arial"/>
                <a:cs typeface="Arial"/>
              </a:defRPr>
            </a:pPr>
          </a:p>
        </c:txPr>
        <c:crossAx val="48650112"/>
        <c:crossBetween val="between"/>
        <c:majorUnit val="30000"/>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FFFFFF"/>
              </a:solidFill>
              <a:latin typeface="Arial"/>
              <a:ea typeface="Arial"/>
              <a:cs typeface="Arial"/>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AB4030B-6C92-4ADF-9970-FAC99A4534F9}"/>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01</a:t>
            </a:r>
          </a:p>
        </p:txBody>
      </p:sp>
      <p:sp>
        <p:nvSpPr>
          <p:cNvPr id="2" name="text-1">
            <a:extLst xmlns:a="http://schemas.openxmlformats.org/drawingml/2006/main">
              <a:ext uri="{FF2B5EF4-FFF2-40B4-BE49-F238E27FC236}">
                <a16:creationId xmlns:a16="http://schemas.microsoft.com/office/drawing/2014/main" id="{27AAE8DC-A799-49E0-8400-E0D876BE17D5}"/>
              </a:ext>
            </a:extLst>
          </p:cNvPr>
          <p:cNvSpPr>
            <a:spLocks xmlns:a="http://schemas.openxmlformats.org/drawingml/2006/main" noGrp="1"/>
          </p:cNvSpPr>
          <p:nvPr/>
        </p:nvSpPr>
        <p:spPr>
          <a:xfrm xmlns:a="http://schemas.openxmlformats.org/drawingml/2006/main">
            <a:off x="609600" y="1762125"/>
            <a:ext cx="32956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0" b="1">
                <a:solidFill>
                  <a:srgbClr val="FFFFFF"/>
                </a:solidFill>
                <a:latin typeface="Arial"/>
                <a:ea typeface="Arial"/>
                <a:cs typeface="Arial"/>
              </a:defRPr>
            </a:pPr>
            <a:r>
              <a:rPr sz="9000" b="1">
                <a:solidFill>
                  <a:srgbClr val="FFFFFF"/>
                </a:solidFill>
                <a:latin typeface="Arial"/>
                <a:ea typeface="Arial"/>
                <a:cs typeface="Arial"/>
              </a:rPr>
              <a:t>Pulse</a:t>
            </a:r>
          </a:p>
        </p:txBody>
      </p:sp>
      <p:sp>
        <p:nvSpPr>
          <p:cNvPr id="3" name="text-2">
            <a:extLst xmlns:a="http://schemas.openxmlformats.org/drawingml/2006/main">
              <a:ext uri="{FF2B5EF4-FFF2-40B4-BE49-F238E27FC236}">
                <a16:creationId xmlns:a16="http://schemas.microsoft.com/office/drawing/2014/main" id="{7E61E20A-B3EF-4BE9-839B-147EE45244FD}"/>
              </a:ext>
            </a:extLst>
          </p:cNvPr>
          <p:cNvSpPr>
            <a:spLocks xmlns:a="http://schemas.openxmlformats.org/drawingml/2006/main" noGrp="1"/>
          </p:cNvSpPr>
          <p:nvPr/>
        </p:nvSpPr>
        <p:spPr>
          <a:xfrm xmlns:a="http://schemas.openxmlformats.org/drawingml/2006/main">
            <a:off x="3905250" y="1762125"/>
            <a:ext cx="2409825" cy="1409700"/>
          </a:xfrm>
          <a:prstGeom xmlns:a="http://schemas.openxmlformats.org/drawingml/2006/main" prst="rect">
            <a:avLst/>
          </a:prstGeom>
          <a:solidFill xmlns:a="http://schemas.openxmlformats.org/drawingml/2006/main">
            <a:srgbClr val="FF990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0" b="1">
                <a:solidFill>
                  <a:srgbClr val="000000"/>
                </a:solidFill>
                <a:latin typeface="Arial"/>
                <a:ea typeface="Arial"/>
                <a:cs typeface="Arial"/>
              </a:defRPr>
            </a:pPr>
            <a:r>
              <a:rPr sz="9000" b="1">
                <a:solidFill>
                  <a:srgbClr val="000000"/>
                </a:solidFill>
                <a:latin typeface="Arial"/>
                <a:ea typeface="Arial"/>
                <a:cs typeface="Arial"/>
              </a:rPr>
              <a:t>Hub</a:t>
            </a:r>
          </a:p>
        </p:txBody>
      </p:sp>
      <p:sp>
        <p:nvSpPr>
          <p:cNvPr id="4" name="text-3">
            <a:extLst xmlns:a="http://schemas.openxmlformats.org/drawingml/2006/main">
              <a:ext uri="{FF2B5EF4-FFF2-40B4-BE49-F238E27FC236}">
                <a16:creationId xmlns:a16="http://schemas.microsoft.com/office/drawing/2014/main" id="{921F9CC2-2946-4362-86D8-08A45BB9EC80}"/>
              </a:ext>
            </a:extLst>
          </p:cNvPr>
          <p:cNvSpPr>
            <a:spLocks xmlns:a="http://schemas.openxmlformats.org/drawingml/2006/main" noGrp="1"/>
          </p:cNvSpPr>
          <p:nvPr/>
        </p:nvSpPr>
        <p:spPr>
          <a:xfrm xmlns:a="http://schemas.openxmlformats.org/drawingml/2006/main">
            <a:off x="609600" y="3714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Supervision locale de télémétrie UDP</a:t>
            </a:r>
          </a:p>
        </p:txBody>
      </p:sp>
      <p:sp>
        <p:nvSpPr>
          <p:cNvPr id="5" name="text-4">
            <a:extLst xmlns:a="http://schemas.openxmlformats.org/drawingml/2006/main">
              <a:ext uri="{FF2B5EF4-FFF2-40B4-BE49-F238E27FC236}">
                <a16:creationId xmlns:a16="http://schemas.microsoft.com/office/drawing/2014/main" id="{92920F03-2EE3-4CBB-8683-A1DC1237EE5D}"/>
              </a:ext>
            </a:extLst>
          </p:cNvPr>
          <p:cNvSpPr>
            <a:spLocks xmlns:a="http://schemas.openxmlformats.org/drawingml/2006/main" noGrp="1"/>
          </p:cNvSpPr>
          <p:nvPr/>
        </p:nvSpPr>
        <p:spPr>
          <a:xfrm xmlns:a="http://schemas.openxmlformats.org/drawingml/2006/main">
            <a:off x="609600" y="48291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3B3B3"/>
                </a:solidFill>
                <a:latin typeface="Arial"/>
                <a:ea typeface="Arial"/>
                <a:cs typeface="Arial"/>
              </a:defRPr>
            </a:pPr>
            <a:r>
              <a:rPr sz="2025" b="0">
                <a:solidFill>
                  <a:srgbClr val="B3B3B3"/>
                </a:solidFill>
                <a:latin typeface="Arial"/>
                <a:ea typeface="Arial"/>
                <a:cs typeface="Arial"/>
              </a:rPr>
              <a:t>Projet individuel</a:t>
            </a:r>
          </a:p>
          <a:p xmlns:a="http://schemas.openxmlformats.org/drawingml/2006/main">
            <a:pPr>
              <a:defRPr sz="2025" b="0">
                <a:solidFill>
                  <a:srgbClr val="B3B3B3"/>
                </a:solidFill>
                <a:latin typeface="Arial"/>
                <a:ea typeface="Arial"/>
                <a:cs typeface="Arial"/>
              </a:defRPr>
            </a:pPr>
            <a:r>
              <a:rPr sz="2025" b="0">
                <a:solidFill>
                  <a:srgbClr val="B3B3B3"/>
                </a:solidFill>
                <a:latin typeface="Arial"/>
                <a:ea typeface="Arial"/>
                <a:cs typeface="Arial"/>
              </a:rPr>
              <a:t>Master Tech-Lead / CTO</a:t>
            </a:r>
          </a:p>
        </p:txBody>
      </p:sp>
      <p:sp>
        <p:nvSpPr>
          <p:cNvPr id="6" name="text-5">
            <a:extLst xmlns:a="http://schemas.openxmlformats.org/drawingml/2006/main">
              <a:ext uri="{FF2B5EF4-FFF2-40B4-BE49-F238E27FC236}">
                <a16:creationId xmlns:a16="http://schemas.microsoft.com/office/drawing/2014/main" id="{123E3361-5514-4F15-B4B4-08BA2C2825A2}"/>
              </a:ext>
            </a:extLst>
          </p:cNvPr>
          <p:cNvSpPr>
            <a:spLocks xmlns:a="http://schemas.openxmlformats.org/drawingml/2006/main" noGrp="1"/>
          </p:cNvSpPr>
          <p:nvPr/>
        </p:nvSpPr>
        <p:spPr>
          <a:xfrm xmlns:a="http://schemas.openxmlformats.org/drawingml/2006/main">
            <a:off x="609600" y="604837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9900"/>
                </a:solidFill>
                <a:latin typeface="Arial"/>
                <a:ea typeface="Arial"/>
                <a:cs typeface="Arial"/>
              </a:defRPr>
            </a:pPr>
            <a:r>
              <a:rPr sz="1725" b="0">
                <a:solidFill>
                  <a:srgbClr val="FF9900"/>
                </a:solidFill>
                <a:latin typeface="Arial"/>
                <a:ea typeface="Arial"/>
                <a:cs typeface="Arial"/>
              </a:rPr>
              <a:t>Version v1.0</a:t>
            </a:r>
          </a:p>
        </p:txBody>
      </p:sp>
    </p:spTree>
    <p:extLst>
      <p:ext uri="{BB962C8B-B14F-4D97-AF65-F5344CB8AC3E}">
        <p14:creationId xmlns:p14="http://schemas.microsoft.com/office/powerpoint/2010/main" val="1974996086"/>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30F144A-B408-48D8-B214-12C42FCAE55E}"/>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Le besoin d’une régie</a:t>
            </a:r>
          </a:p>
        </p:txBody>
      </p:sp>
      <p:sp>
        <p:nvSpPr>
          <p:cNvPr id="2" name="text-1">
            <a:extLst xmlns:a="http://schemas.openxmlformats.org/drawingml/2006/main">
              <a:ext uri="{FF2B5EF4-FFF2-40B4-BE49-F238E27FC236}">
                <a16:creationId xmlns:a16="http://schemas.microsoft.com/office/drawing/2014/main" id="{6AFAAE5F-DE38-4E35-B0E6-E166781918D8}"/>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7ADA9181-B122-4B90-BCB6-0E0B4294C9B4}"/>
              </a:ext>
            </a:extLst>
          </p:cNvPr>
          <p:cNvSpPr>
            <a:spLocks xmlns:a="http://schemas.openxmlformats.org/drawingml/2006/main" noGrp="1"/>
          </p:cNvSpPr>
          <p:nvPr/>
        </p:nvSpPr>
        <p:spPr>
          <a:xfrm xmlns:a="http://schemas.openxmlformats.org/drawingml/2006/main">
            <a:off x="609600" y="152400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Repérer un appareil en défaut</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et vérifier la santé de la réception.</a:t>
            </a:r>
          </a:p>
        </p:txBody>
      </p:sp>
      <p:sp>
        <p:nvSpPr>
          <p:cNvPr id="4" name="text-3">
            <a:extLst xmlns:a="http://schemas.openxmlformats.org/drawingml/2006/main">
              <a:ext uri="{FF2B5EF4-FFF2-40B4-BE49-F238E27FC236}">
                <a16:creationId xmlns:a16="http://schemas.microsoft.com/office/drawing/2014/main" id="{1C441421-5A55-4C52-88B6-249537622074}"/>
              </a:ext>
            </a:extLst>
          </p:cNvPr>
          <p:cNvSpPr>
            <a:spLocks xmlns:a="http://schemas.openxmlformats.org/drawingml/2006/main" noGrp="1"/>
          </p:cNvSpPr>
          <p:nvPr/>
        </p:nvSpPr>
        <p:spPr>
          <a:xfrm xmlns:a="http://schemas.openxmlformats.org/drawingml/2006/main">
            <a:off x="609600" y="3114675"/>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FF9900"/>
                </a:solidFill>
                <a:latin typeface="Arial"/>
                <a:ea typeface="Arial"/>
                <a:cs typeface="Arial"/>
              </a:defRPr>
            </a:pPr>
            <a:r>
              <a:rPr sz="7500" b="1">
                <a:solidFill>
                  <a:srgbClr val="FF9900"/>
                </a:solidFill>
                <a:latin typeface="Arial"/>
                <a:ea typeface="Arial"/>
                <a:cs typeface="Arial"/>
              </a:rPr>
              <a:t>50</a:t>
            </a:r>
          </a:p>
        </p:txBody>
      </p:sp>
      <p:sp>
        <p:nvSpPr>
          <p:cNvPr id="5" name="text-4">
            <a:extLst xmlns:a="http://schemas.openxmlformats.org/drawingml/2006/main">
              <a:ext uri="{FF2B5EF4-FFF2-40B4-BE49-F238E27FC236}">
                <a16:creationId xmlns:a16="http://schemas.microsoft.com/office/drawing/2014/main" id="{0A5B6415-79C4-430F-B592-0C30DDC9A163}"/>
              </a:ext>
            </a:extLst>
          </p:cNvPr>
          <p:cNvSpPr>
            <a:spLocks xmlns:a="http://schemas.openxmlformats.org/drawingml/2006/main" noGrp="1"/>
          </p:cNvSpPr>
          <p:nvPr/>
        </p:nvSpPr>
        <p:spPr>
          <a:xfrm xmlns:a="http://schemas.openxmlformats.org/drawingml/2006/main">
            <a:off x="609600" y="4295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appareils simulés</a:t>
            </a:r>
          </a:p>
        </p:txBody>
      </p:sp>
      <p:sp>
        <p:nvSpPr>
          <p:cNvPr id="6" name="text-5">
            <a:extLst xmlns:a="http://schemas.openxmlformats.org/drawingml/2006/main">
              <a:ext uri="{FF2B5EF4-FFF2-40B4-BE49-F238E27FC236}">
                <a16:creationId xmlns:a16="http://schemas.microsoft.com/office/drawing/2014/main" id="{AB9593AD-58BE-4C42-8549-23401E4768A5}"/>
              </a:ext>
            </a:extLst>
          </p:cNvPr>
          <p:cNvSpPr>
            <a:spLocks xmlns:a="http://schemas.openxmlformats.org/drawingml/2006/main" noGrp="1"/>
          </p:cNvSpPr>
          <p:nvPr/>
        </p:nvSpPr>
        <p:spPr>
          <a:xfrm xmlns:a="http://schemas.openxmlformats.org/drawingml/2006/main">
            <a:off x="4324350" y="3114675"/>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FF9900"/>
                </a:solidFill>
                <a:latin typeface="Arial"/>
                <a:ea typeface="Arial"/>
                <a:cs typeface="Arial"/>
              </a:defRPr>
            </a:pPr>
            <a:r>
              <a:rPr sz="7500" b="1">
                <a:solidFill>
                  <a:srgbClr val="FF9900"/>
                </a:solidFill>
                <a:latin typeface="Arial"/>
                <a:ea typeface="Arial"/>
                <a:cs typeface="Arial"/>
              </a:rPr>
              <a:t>20 Hz</a:t>
            </a:r>
          </a:p>
        </p:txBody>
      </p:sp>
      <p:sp>
        <p:nvSpPr>
          <p:cNvPr id="7" name="text-6">
            <a:extLst xmlns:a="http://schemas.openxmlformats.org/drawingml/2006/main">
              <a:ext uri="{FF2B5EF4-FFF2-40B4-BE49-F238E27FC236}">
                <a16:creationId xmlns:a16="http://schemas.microsoft.com/office/drawing/2014/main" id="{117D55FD-F2F0-4CB3-827D-BA3F7754655F}"/>
              </a:ext>
            </a:extLst>
          </p:cNvPr>
          <p:cNvSpPr>
            <a:spLocks xmlns:a="http://schemas.openxmlformats.org/drawingml/2006/main" noGrp="1"/>
          </p:cNvSpPr>
          <p:nvPr/>
        </p:nvSpPr>
        <p:spPr>
          <a:xfrm xmlns:a="http://schemas.openxmlformats.org/drawingml/2006/main">
            <a:off x="4324350" y="4295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par appareil</a:t>
            </a:r>
          </a:p>
        </p:txBody>
      </p:sp>
      <p:sp>
        <p:nvSpPr>
          <p:cNvPr id="8" name="text-7">
            <a:extLst xmlns:a="http://schemas.openxmlformats.org/drawingml/2006/main">
              <a:ext uri="{FF2B5EF4-FFF2-40B4-BE49-F238E27FC236}">
                <a16:creationId xmlns:a16="http://schemas.microsoft.com/office/drawing/2014/main" id="{44049E70-7CEF-4D58-B8B4-3B6B732E9A61}"/>
              </a:ext>
            </a:extLst>
          </p:cNvPr>
          <p:cNvSpPr>
            <a:spLocks xmlns:a="http://schemas.openxmlformats.org/drawingml/2006/main" noGrp="1"/>
          </p:cNvSpPr>
          <p:nvPr/>
        </p:nvSpPr>
        <p:spPr>
          <a:xfrm xmlns:a="http://schemas.openxmlformats.org/drawingml/2006/main">
            <a:off x="8210550" y="3114675"/>
            <a:ext cx="3286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FF9900"/>
                </a:solidFill>
                <a:latin typeface="Arial"/>
                <a:ea typeface="Arial"/>
                <a:cs typeface="Arial"/>
              </a:defRPr>
            </a:pPr>
            <a:r>
              <a:rPr sz="7500" b="1">
                <a:solidFill>
                  <a:srgbClr val="FF9900"/>
                </a:solidFill>
                <a:latin typeface="Arial"/>
                <a:ea typeface="Arial"/>
                <a:cs typeface="Arial"/>
              </a:rPr>
              <a:t>1 000</a:t>
            </a:r>
          </a:p>
        </p:txBody>
      </p:sp>
      <p:sp>
        <p:nvSpPr>
          <p:cNvPr id="9" name="text-8">
            <a:extLst xmlns:a="http://schemas.openxmlformats.org/drawingml/2006/main">
              <a:ext uri="{FF2B5EF4-FFF2-40B4-BE49-F238E27FC236}">
                <a16:creationId xmlns:a16="http://schemas.microsoft.com/office/drawing/2014/main" id="{A45CC650-6358-4057-8C85-280302559727}"/>
              </a:ext>
            </a:extLst>
          </p:cNvPr>
          <p:cNvSpPr>
            <a:spLocks xmlns:a="http://schemas.openxmlformats.org/drawingml/2006/main" noGrp="1"/>
          </p:cNvSpPr>
          <p:nvPr/>
        </p:nvSpPr>
        <p:spPr>
          <a:xfrm xmlns:a="http://schemas.openxmlformats.org/drawingml/2006/main">
            <a:off x="8210550" y="42957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trames/s nominales</a:t>
            </a:r>
          </a:p>
        </p:txBody>
      </p:sp>
      <p:sp>
        <p:nvSpPr>
          <p:cNvPr id="10" name="text-9">
            <a:extLst xmlns:a="http://schemas.openxmlformats.org/drawingml/2006/main">
              <a:ext uri="{FF2B5EF4-FFF2-40B4-BE49-F238E27FC236}">
                <a16:creationId xmlns:a16="http://schemas.microsoft.com/office/drawing/2014/main" id="{49318C85-B870-45DA-821C-CEA83EA8F562}"/>
              </a:ext>
            </a:extLst>
          </p:cNvPr>
          <p:cNvSpPr>
            <a:spLocks xmlns:a="http://schemas.openxmlformats.org/drawingml/2006/main" noGrp="1"/>
          </p:cNvSpPr>
          <p:nvPr/>
        </p:nvSpPr>
        <p:spPr>
          <a:xfrm xmlns:a="http://schemas.openxmlformats.org/drawingml/2006/main">
            <a:off x="609600" y="561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3B3B3"/>
                </a:solidFill>
                <a:latin typeface="Arial"/>
                <a:ea typeface="Arial"/>
                <a:cs typeface="Arial"/>
              </a:defRPr>
            </a:pPr>
            <a:r>
              <a:rPr sz="2025" b="0">
                <a:solidFill>
                  <a:srgbClr val="B3B3B3"/>
                </a:solidFill>
                <a:latin typeface="Arial"/>
                <a:ea typeface="Arial"/>
                <a:cs typeface="Arial"/>
              </a:rPr>
              <a:t>Vraies trames UDP locales. Aucun appareil physique dans cette démo.</a:t>
            </a:r>
          </a:p>
        </p:txBody>
      </p:sp>
    </p:spTree>
    <p:extLst>
      <p:ext uri="{BB962C8B-B14F-4D97-AF65-F5344CB8AC3E}">
        <p14:creationId xmlns:p14="http://schemas.microsoft.com/office/powerpoint/2010/main" val="913573851"/>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1D36DDA-5207-4357-A281-6E68319A0514}"/>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Parcours d’une trame</a:t>
            </a:r>
          </a:p>
        </p:txBody>
      </p:sp>
      <p:sp>
        <p:nvSpPr>
          <p:cNvPr id="2" name="text-1">
            <a:extLst xmlns:a="http://schemas.openxmlformats.org/drawingml/2006/main">
              <a:ext uri="{FF2B5EF4-FFF2-40B4-BE49-F238E27FC236}">
                <a16:creationId xmlns:a16="http://schemas.microsoft.com/office/drawing/2014/main" id="{C6B241AE-C327-4575-B6A9-81C05F5A7237}"/>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03</a:t>
            </a:r>
          </a:p>
        </p:txBody>
      </p:sp>
      <p:graphicFrame>
        <p:nvGraphicFramePr>
          <p:cNvPr id="7" name=""/>
          <p:cNvGraphicFramePr/>
          <p:nvPr/>
        </p:nvGraphicFramePr>
        <p:xfrm>
          <a:off xmlns:a="http://schemas.openxmlformats.org/drawingml/2006/main" x="609600" y="1571625"/>
          <a:ext xmlns:a="http://schemas.openxmlformats.org/drawingml/2006/main" cx="10972800" cy="3752850"/>
        </p:xfrm>
        <a:graphic xmlns:a="http://schemas.openxmlformats.org/drawingml/2006/main">
          <a:graphicData uri="http://schemas.openxmlformats.org/drawingml/2006/table">
            <a:tbl>
              <a:tblPr firstRow="0" bandRow="0"/>
              <a:tblGrid>
                <a:gridCol w="2238375"/>
                <a:gridCol w="5095875"/>
                <a:gridCol w="3638550"/>
              </a:tblGrid>
              <a:tr h="514350">
                <a:tc>
                  <a:txBody>
                    <a:bodyPr/>
                    <a:lstStyle/>
                    <a:p>
                      <a:r>
                        <a:rPr sz="1800" b="1">
                          <a:solidFill>
                            <a:srgbClr val="FF9900"/>
                          </a:solidFill>
                          <a:latin typeface="Arial"/>
                          <a:ea typeface="Arial"/>
                          <a:cs typeface="Arial"/>
                        </a:rPr>
                        <a:t>Étape</a:t>
                      </a:r>
                    </a:p>
                  </a:txBody>
                  <a:tcPr marL="152400" marR="152400" marT="95250" marB="76200" anchor="ctr">
                    <a:solidFill>
                      <a:srgbClr val="191919"/>
                    </a:solidFill>
                  </a:tcPr>
                </a:tc>
                <a:tc>
                  <a:txBody>
                    <a:bodyPr/>
                    <a:lstStyle/>
                    <a:p>
                      <a:r>
                        <a:rPr sz="1800" b="1">
                          <a:solidFill>
                            <a:srgbClr val="FF9900"/>
                          </a:solidFill>
                          <a:latin typeface="Arial"/>
                          <a:ea typeface="Arial"/>
                          <a:cs typeface="Arial"/>
                        </a:rPr>
                        <a:t>Responsabilité</a:t>
                      </a:r>
                    </a:p>
                  </a:txBody>
                  <a:tcPr marL="152400" marR="152400" marT="95250" marB="76200" anchor="ctr">
                    <a:solidFill>
                      <a:srgbClr val="191919"/>
                    </a:solidFill>
                  </a:tcPr>
                </a:tc>
                <a:tc>
                  <a:txBody>
                    <a:bodyPr/>
                    <a:lstStyle/>
                    <a:p>
                      <a:r>
                        <a:rPr sz="1800" b="1">
                          <a:solidFill>
                            <a:srgbClr val="FF9900"/>
                          </a:solidFill>
                          <a:latin typeface="Arial"/>
                          <a:ea typeface="Arial"/>
                          <a:cs typeface="Arial"/>
                        </a:rPr>
                        <a:t>Échange</a:t>
                      </a:r>
                    </a:p>
                  </a:txBody>
                  <a:tcPr marL="152400" marR="152400" marT="95250" marB="76200" anchor="ctr">
                    <a:solidFill>
                      <a:srgbClr val="191919"/>
                    </a:solidFill>
                  </a:tcPr>
                </a:tc>
              </a:tr>
              <a:tr h="647700">
                <a:tc>
                  <a:txBody>
                    <a:bodyPr/>
                    <a:lstStyle/>
                    <a:p>
                      <a:r>
                        <a:rPr sz="1875">
                          <a:solidFill>
                            <a:srgbClr val="FFFFFF"/>
                          </a:solidFill>
                          <a:latin typeface="Arial"/>
                          <a:ea typeface="Arial"/>
                          <a:cs typeface="Arial"/>
                        </a:rPr>
                        <a:t>Simulation</a:t>
                      </a:r>
                    </a:p>
                  </a:txBody>
                  <a:tcPr marL="152400" marR="152400" marT="95250" marB="76200" anchor="ctr">
                    <a:solidFill>
                      <a:srgbClr val="000000"/>
                    </a:solidFill>
                  </a:tcPr>
                </a:tc>
                <a:tc>
                  <a:txBody>
                    <a:bodyPr/>
                    <a:lstStyle/>
                    <a:p>
                      <a:r>
                        <a:rPr sz="1875">
                          <a:solidFill>
                            <a:srgbClr val="FFFFFF"/>
                          </a:solidFill>
                          <a:latin typeface="Arial"/>
                          <a:ea typeface="Arial"/>
                          <a:cs typeface="Arial"/>
                        </a:rPr>
                        <a:t>Encoder et injecter les défauts</a:t>
                      </a:r>
                    </a:p>
                  </a:txBody>
                  <a:tcPr marL="152400" marR="152400" marT="95250" marB="76200" anchor="ctr">
                    <a:solidFill>
                      <a:srgbClr val="000000"/>
                    </a:solidFill>
                  </a:tcPr>
                </a:tc>
                <a:tc>
                  <a:txBody>
                    <a:bodyPr/>
                    <a:lstStyle/>
                    <a:p>
                      <a:r>
                        <a:rPr sz="1875">
                          <a:solidFill>
                            <a:srgbClr val="FFFFFF"/>
                          </a:solidFill>
                          <a:latin typeface="Arial"/>
                          <a:ea typeface="Arial"/>
                          <a:cs typeface="Arial"/>
                        </a:rPr>
                        <a:t>UDP 9000</a:t>
                      </a:r>
                    </a:p>
                  </a:txBody>
                  <a:tcPr marL="152400" marR="152400" marT="95250" marB="76200" anchor="ctr">
                    <a:solidFill>
                      <a:srgbClr val="000000"/>
                    </a:solidFill>
                  </a:tcPr>
                </a:tc>
              </a:tr>
              <a:tr h="647700">
                <a:tc>
                  <a:txBody>
                    <a:bodyPr/>
                    <a:lstStyle/>
                    <a:p>
                      <a:r>
                        <a:rPr sz="1875">
                          <a:solidFill>
                            <a:srgbClr val="FFFFFF"/>
                          </a:solidFill>
                          <a:latin typeface="Arial"/>
                          <a:ea typeface="Arial"/>
                          <a:cs typeface="Arial"/>
                        </a:rPr>
                        <a:t>Décodage</a:t>
                      </a:r>
                    </a:p>
                  </a:txBody>
                  <a:tcPr marL="152400" marR="152400" marT="95250" marB="76200" anchor="ctr">
                    <a:solidFill>
                      <a:srgbClr val="000000"/>
                    </a:solidFill>
                  </a:tcPr>
                </a:tc>
                <a:tc>
                  <a:txBody>
                    <a:bodyPr/>
                    <a:lstStyle/>
                    <a:p>
                      <a:r>
                        <a:rPr sz="1875">
                          <a:solidFill>
                            <a:srgbClr val="FFFFFF"/>
                          </a:solidFill>
                          <a:latin typeface="Arial"/>
                          <a:ea typeface="Arial"/>
                          <a:cs typeface="Arial"/>
                        </a:rPr>
                        <a:t>Valider la structure binaire</a:t>
                      </a:r>
                    </a:p>
                  </a:txBody>
                  <a:tcPr marL="152400" marR="152400" marT="95250" marB="76200" anchor="ctr">
                    <a:solidFill>
                      <a:srgbClr val="000000"/>
                    </a:solidFill>
                  </a:tcPr>
                </a:tc>
                <a:tc>
                  <a:txBody>
                    <a:bodyPr/>
                    <a:lstStyle/>
                    <a:p>
                      <a:r>
                        <a:rPr sz="1875">
                          <a:solidFill>
                            <a:srgbClr val="FFFFFF"/>
                          </a:solidFill>
                          <a:latin typeface="Arial"/>
                          <a:ea typeface="Arial"/>
                          <a:cs typeface="Arial"/>
                        </a:rPr>
                        <a:t>Buffer / Frame</a:t>
                      </a:r>
                    </a:p>
                  </a:txBody>
                  <a:tcPr marL="152400" marR="152400" marT="95250" marB="76200" anchor="ctr">
                    <a:solidFill>
                      <a:srgbClr val="000000"/>
                    </a:solidFill>
                  </a:tcPr>
                </a:tc>
              </a:tr>
              <a:tr h="647700">
                <a:tc>
                  <a:txBody>
                    <a:bodyPr/>
                    <a:lstStyle/>
                    <a:p>
                      <a:r>
                        <a:rPr sz="1875">
                          <a:solidFill>
                            <a:srgbClr val="FFFFFF"/>
                          </a:solidFill>
                          <a:latin typeface="Arial"/>
                          <a:ea typeface="Arial"/>
                          <a:cs typeface="Arial"/>
                        </a:rPr>
                        <a:t>Séquencement</a:t>
                      </a:r>
                    </a:p>
                  </a:txBody>
                  <a:tcPr marL="152400" marR="152400" marT="95250" marB="76200" anchor="ctr">
                    <a:solidFill>
                      <a:srgbClr val="000000"/>
                    </a:solidFill>
                  </a:tcPr>
                </a:tc>
                <a:tc>
                  <a:txBody>
                    <a:bodyPr/>
                    <a:lstStyle/>
                    <a:p>
                      <a:r>
                        <a:rPr sz="1875">
                          <a:solidFill>
                            <a:srgbClr val="FFFFFF"/>
                          </a:solidFill>
                          <a:latin typeface="Arial"/>
                          <a:ea typeface="Arial"/>
                          <a:cs typeface="Arial"/>
                        </a:rPr>
                        <a:t>Écarter les répétitions et retards</a:t>
                      </a:r>
                    </a:p>
                  </a:txBody>
                  <a:tcPr marL="152400" marR="152400" marT="95250" marB="76200" anchor="ctr">
                    <a:solidFill>
                      <a:srgbClr val="000000"/>
                    </a:solidFill>
                  </a:tcPr>
                </a:tc>
                <a:tc>
                  <a:txBody>
                    <a:bodyPr/>
                    <a:lstStyle/>
                    <a:p>
                      <a:r>
                        <a:rPr sz="1875">
                          <a:solidFill>
                            <a:srgbClr val="FFFFFF"/>
                          </a:solidFill>
                          <a:latin typeface="Arial"/>
                          <a:ea typeface="Arial"/>
                          <a:cs typeface="Arial"/>
                        </a:rPr>
                        <a:t>Décision par appareil</a:t>
                      </a:r>
                    </a:p>
                  </a:txBody>
                  <a:tcPr marL="152400" marR="152400" marT="95250" marB="76200" anchor="ctr">
                    <a:solidFill>
                      <a:srgbClr val="000000"/>
                    </a:solidFill>
                  </a:tcPr>
                </a:tc>
              </a:tr>
              <a:tr h="647700">
                <a:tc>
                  <a:txBody>
                    <a:bodyPr/>
                    <a:lstStyle/>
                    <a:p>
                      <a:r>
                        <a:rPr sz="1875">
                          <a:solidFill>
                            <a:srgbClr val="FFFFFF"/>
                          </a:solidFill>
                          <a:latin typeface="Arial"/>
                          <a:ea typeface="Arial"/>
                          <a:cs typeface="Arial"/>
                        </a:rPr>
                        <a:t>Synthèse</a:t>
                      </a:r>
                    </a:p>
                  </a:txBody>
                  <a:tcPr marL="152400" marR="152400" marT="95250" marB="76200" anchor="ctr">
                    <a:solidFill>
                      <a:srgbClr val="000000"/>
                    </a:solidFill>
                  </a:tcPr>
                </a:tc>
                <a:tc>
                  <a:txBody>
                    <a:bodyPr/>
                    <a:lstStyle/>
                    <a:p>
                      <a:r>
                        <a:rPr sz="1875">
                          <a:solidFill>
                            <a:srgbClr val="FFFFFF"/>
                          </a:solidFill>
                          <a:latin typeface="Arial"/>
                          <a:ea typeface="Arial"/>
                          <a:cs typeface="Arial"/>
                        </a:rPr>
                        <a:t>Calculer les états et agrégats</a:t>
                      </a:r>
                    </a:p>
                  </a:txBody>
                  <a:tcPr marL="152400" marR="152400" marT="95250" marB="76200" anchor="ctr">
                    <a:solidFill>
                      <a:srgbClr val="000000"/>
                    </a:solidFill>
                  </a:tcPr>
                </a:tc>
                <a:tc>
                  <a:txBody>
                    <a:bodyPr/>
                    <a:lstStyle/>
                    <a:p>
                      <a:r>
                        <a:rPr sz="1875">
                          <a:solidFill>
                            <a:srgbClr val="FFFFFF"/>
                          </a:solidFill>
                          <a:latin typeface="Arial"/>
                          <a:ea typeface="Arial"/>
                          <a:cs typeface="Arial"/>
                        </a:rPr>
                        <a:t>Fleet + chaîne JSON</a:t>
                      </a:r>
                    </a:p>
                  </a:txBody>
                  <a:tcPr marL="152400" marR="152400" marT="95250" marB="76200" anchor="ctr">
                    <a:solidFill>
                      <a:srgbClr val="000000"/>
                    </a:solidFill>
                  </a:tcPr>
                </a:tc>
              </a:tr>
              <a:tr h="647700">
                <a:tc>
                  <a:txBody>
                    <a:bodyPr/>
                    <a:lstStyle/>
                    <a:p>
                      <a:r>
                        <a:rPr sz="1875">
                          <a:solidFill>
                            <a:srgbClr val="FFFFFF"/>
                          </a:solidFill>
                          <a:latin typeface="Arial"/>
                          <a:ea typeface="Arial"/>
                          <a:cs typeface="Arial"/>
                        </a:rPr>
                        <a:t>Affichage</a:t>
                      </a:r>
                    </a:p>
                  </a:txBody>
                  <a:tcPr marL="152400" marR="152400" marT="95250" marB="76200" anchor="ctr">
                    <a:solidFill>
                      <a:srgbClr val="000000"/>
                    </a:solidFill>
                  </a:tcPr>
                </a:tc>
                <a:tc>
                  <a:txBody>
                    <a:bodyPr/>
                    <a:lstStyle/>
                    <a:p>
                      <a:r>
                        <a:rPr sz="1875">
                          <a:solidFill>
                            <a:srgbClr val="FFFFFF"/>
                          </a:solidFill>
                          <a:latin typeface="Arial"/>
                          <a:ea typeface="Arial"/>
                          <a:cs typeface="Arial"/>
                        </a:rPr>
                        <a:t>Présenter le dernier état accepté</a:t>
                      </a:r>
                    </a:p>
                  </a:txBody>
                  <a:tcPr marL="152400" marR="152400" marT="95250" marB="76200" anchor="ctr">
                    <a:solidFill>
                      <a:srgbClr val="000000"/>
                    </a:solidFill>
                  </a:tcPr>
                </a:tc>
                <a:tc>
                  <a:txBody>
                    <a:bodyPr/>
                    <a:lstStyle/>
                    <a:p>
                      <a:r>
                        <a:rPr sz="1875">
                          <a:solidFill>
                            <a:srgbClr val="FFFFFF"/>
                          </a:solidFill>
                          <a:latin typeface="Arial"/>
                          <a:ea typeface="Arial"/>
                          <a:cs typeface="Arial"/>
                        </a:rPr>
                        <a:t>SSE web / HTTP CLI</a:t>
                      </a:r>
                    </a:p>
                  </a:txBody>
                  <a:tcPr marL="152400" marR="152400" marT="95250" marB="76200" anchor="ctr">
                    <a:solidFill>
                      <a:srgbClr val="000000"/>
                    </a:solidFill>
                  </a:tcPr>
                </a:tc>
              </a:tr>
            </a:tbl>
          </a:graphicData>
        </a:graphic>
      </p:graphicFrame>
      <p:sp>
        <p:nvSpPr>
          <p:cNvPr id="4" name="text-2">
            <a:extLst xmlns:a="http://schemas.openxmlformats.org/drawingml/2006/main">
              <a:ext uri="{FF2B5EF4-FFF2-40B4-BE49-F238E27FC236}">
                <a16:creationId xmlns:a16="http://schemas.microsoft.com/office/drawing/2014/main" id="{C43B9D96-ABA8-46A5-A465-91E55729F095}"/>
              </a:ext>
            </a:extLst>
          </p:cNvPr>
          <p:cNvSpPr>
            <a:spLocks xmlns:a="http://schemas.openxmlformats.org/drawingml/2006/main" noGrp="1"/>
          </p:cNvSpPr>
          <p:nvPr/>
        </p:nvSpPr>
        <p:spPr>
          <a:xfrm xmlns:a="http://schemas.openxmlformats.org/drawingml/2006/main">
            <a:off x="609600" y="5905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3B3B3"/>
                </a:solidFill>
                <a:latin typeface="Arial"/>
                <a:ea typeface="Arial"/>
                <a:cs typeface="Arial"/>
              </a:defRPr>
            </a:pPr>
            <a:r>
              <a:rPr sz="1950" b="0">
                <a:solidFill>
                  <a:srgbClr val="B3B3B3"/>
                </a:solidFill>
                <a:latin typeface="Arial"/>
                <a:ea typeface="Arial"/>
                <a:cs typeface="Arial"/>
              </a:rPr>
              <a:t>TypeScript strict. Calcul métier séparé des transports et des interfaces.</a:t>
            </a:r>
          </a:p>
        </p:txBody>
      </p:sp>
    </p:spTree>
    <p:extLst>
      <p:ext uri="{BB962C8B-B14F-4D97-AF65-F5344CB8AC3E}">
        <p14:creationId xmlns:p14="http://schemas.microsoft.com/office/powerpoint/2010/main" val="8400734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C1F3A18-2707-4EE7-B9C9-E49BA413C8CB}"/>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Décodage du protocole</a:t>
            </a:r>
          </a:p>
        </p:txBody>
      </p:sp>
      <p:sp>
        <p:nvSpPr>
          <p:cNvPr id="2" name="text-1">
            <a:extLst xmlns:a="http://schemas.openxmlformats.org/drawingml/2006/main">
              <a:ext uri="{FF2B5EF4-FFF2-40B4-BE49-F238E27FC236}">
                <a16:creationId xmlns:a16="http://schemas.microsoft.com/office/drawing/2014/main" id="{D5BF3675-F756-496C-9A61-C580DA607A1E}"/>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04</a:t>
            </a:r>
          </a:p>
        </p:txBody>
      </p:sp>
      <p:sp>
        <p:nvSpPr>
          <p:cNvPr id="3" name="text-2">
            <a:extLst xmlns:a="http://schemas.openxmlformats.org/drawingml/2006/main">
              <a:ext uri="{FF2B5EF4-FFF2-40B4-BE49-F238E27FC236}">
                <a16:creationId xmlns:a16="http://schemas.microsoft.com/office/drawing/2014/main" id="{9CEF754E-F9BE-45AA-B798-14EAE4D0861A}"/>
              </a:ext>
            </a:extLst>
          </p:cNvPr>
          <p:cNvSpPr>
            <a:spLocks xmlns:a="http://schemas.openxmlformats.org/drawingml/2006/main" noGrp="1"/>
          </p:cNvSpPr>
          <p:nvPr/>
        </p:nvSpPr>
        <p:spPr>
          <a:xfrm xmlns:a="http://schemas.openxmlformats.org/drawingml/2006/main">
            <a:off x="609600" y="166687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F9900"/>
                </a:solidFill>
                <a:latin typeface="Arial"/>
                <a:ea typeface="Arial"/>
                <a:cs typeface="Arial"/>
              </a:defRPr>
            </a:pPr>
            <a:r>
              <a:rPr sz="5400" b="1">
                <a:solidFill>
                  <a:srgbClr val="FF9900"/>
                </a:solidFill>
                <a:latin typeface="Arial"/>
                <a:ea typeface="Arial"/>
                <a:cs typeface="Arial"/>
              </a:rPr>
              <a:t>16 + 3 × count</a:t>
            </a:r>
          </a:p>
        </p:txBody>
      </p:sp>
      <p:sp>
        <p:nvSpPr>
          <p:cNvPr id="4" name="text-3">
            <a:extLst xmlns:a="http://schemas.openxmlformats.org/drawingml/2006/main">
              <a:ext uri="{FF2B5EF4-FFF2-40B4-BE49-F238E27FC236}">
                <a16:creationId xmlns:a16="http://schemas.microsoft.com/office/drawing/2014/main" id="{50C4671B-AE64-4FDF-91A2-938BE6C35067}"/>
              </a:ext>
            </a:extLst>
          </p:cNvPr>
          <p:cNvSpPr>
            <a:spLocks xmlns:a="http://schemas.openxmlformats.org/drawingml/2006/main" noGrp="1"/>
          </p:cNvSpPr>
          <p:nvPr/>
        </p:nvSpPr>
        <p:spPr>
          <a:xfrm xmlns:a="http://schemas.openxmlformats.org/drawingml/2006/main">
            <a:off x="609600" y="27051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octets par datagramme</a:t>
            </a:r>
          </a:p>
        </p:txBody>
      </p:sp>
      <p:sp>
        <p:nvSpPr>
          <p:cNvPr id="5" name="text-4">
            <a:extLst xmlns:a="http://schemas.openxmlformats.org/drawingml/2006/main">
              <a:ext uri="{FF2B5EF4-FFF2-40B4-BE49-F238E27FC236}">
                <a16:creationId xmlns:a16="http://schemas.microsoft.com/office/drawing/2014/main" id="{5CDA3D4D-9156-4425-94B9-38B42C4A4E66}"/>
              </a:ext>
            </a:extLst>
          </p:cNvPr>
          <p:cNvSpPr>
            <a:spLocks xmlns:a="http://schemas.openxmlformats.org/drawingml/2006/main" noGrp="1"/>
          </p:cNvSpPr>
          <p:nvPr/>
        </p:nvSpPr>
        <p:spPr>
          <a:xfrm xmlns:a="http://schemas.openxmlformats.org/drawingml/2006/main">
            <a:off x="609600" y="368617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B3B3B3"/>
                </a:solidFill>
                <a:latin typeface="Arial"/>
                <a:ea typeface="Arial"/>
                <a:cs typeface="Arial"/>
              </a:defRPr>
            </a:pPr>
            <a:r>
              <a:rPr sz="2325" b="0">
                <a:solidFill>
                  <a:srgbClr val="B3B3B3"/>
                </a:solidFill>
                <a:latin typeface="Arial"/>
                <a:ea typeface="Arial"/>
                <a:cs typeface="Arial"/>
              </a:rPr>
              <a:t>Big-endian</a:t>
            </a:r>
          </a:p>
          <a:p xmlns:a="http://schemas.openxmlformats.org/drawingml/2006/main">
            <a:pPr>
              <a:defRPr sz="2325" b="0">
                <a:solidFill>
                  <a:srgbClr val="B3B3B3"/>
                </a:solidFill>
                <a:latin typeface="Arial"/>
                <a:ea typeface="Arial"/>
                <a:cs typeface="Arial"/>
              </a:defRPr>
            </a:pPr>
            <a:r>
              <a:rPr sz="2325" b="0">
                <a:solidFill>
                  <a:srgbClr val="B3B3B3"/>
                </a:solidFill>
                <a:latin typeface="Arial"/>
                <a:ea typeface="Arial"/>
                <a:cs typeface="Arial"/>
              </a:rPr>
              <a:t>512 octets maximum</a:t>
            </a:r>
          </a:p>
          <a:p xmlns:a="http://schemas.openxmlformats.org/drawingml/2006/main">
            <a:pPr>
              <a:defRPr sz="2325" b="0">
                <a:solidFill>
                  <a:srgbClr val="B3B3B3"/>
                </a:solidFill>
                <a:latin typeface="Arial"/>
                <a:ea typeface="Arial"/>
                <a:cs typeface="Arial"/>
              </a:defRPr>
            </a:pPr>
            <a:r>
              <a:rPr sz="2325" b="0">
                <a:solidFill>
                  <a:srgbClr val="B3B3B3"/>
                </a:solidFill>
                <a:latin typeface="Arial"/>
                <a:ea typeface="Arial"/>
                <a:cs typeface="Arial"/>
              </a:rPr>
              <a:t>Valeurs int16 signées</a:t>
            </a:r>
          </a:p>
        </p:txBody>
      </p:sp>
      <p:graphicFrame>
        <p:nvGraphicFramePr>
          <p:cNvPr id="13" name=""/>
          <p:cNvGraphicFramePr/>
          <p:nvPr/>
        </p:nvGraphicFramePr>
        <p:xfrm>
          <a:off xmlns:a="http://schemas.openxmlformats.org/drawingml/2006/main" x="6543675" y="1857375"/>
          <a:ext xmlns:a="http://schemas.openxmlformats.org/drawingml/2006/main" cx="5038725" cy="2876550"/>
        </p:xfrm>
        <a:graphic xmlns:a="http://schemas.openxmlformats.org/drawingml/2006/main">
          <a:graphicData uri="http://schemas.openxmlformats.org/drawingml/2006/table">
            <a:tbl>
              <a:tblPr firstRow="0" bandRow="0"/>
              <a:tblGrid>
                <a:gridCol w="1876425"/>
                <a:gridCol w="1524000"/>
                <a:gridCol w="1638300"/>
              </a:tblGrid>
              <a:tr h="590550">
                <a:tc>
                  <a:txBody>
                    <a:bodyPr/>
                    <a:lstStyle/>
                    <a:p>
                      <a:r>
                        <a:rPr sz="1650" b="1">
                          <a:solidFill>
                            <a:srgbClr val="FF9900"/>
                          </a:solidFill>
                          <a:latin typeface="Arial"/>
                          <a:ea typeface="Arial"/>
                          <a:cs typeface="Arial"/>
                        </a:rPr>
                        <a:t>Mesure</a:t>
                      </a:r>
                    </a:p>
                  </a:txBody>
                  <a:tcPr marL="152400" marR="152400" marT="95250" marB="76200" anchor="ctr">
                    <a:solidFill>
                      <a:srgbClr val="191919"/>
                    </a:solidFill>
                  </a:tcPr>
                </a:tc>
                <a:tc>
                  <a:txBody>
                    <a:bodyPr/>
                    <a:lstStyle/>
                    <a:p>
                      <a:r>
                        <a:rPr sz="1650" b="1">
                          <a:solidFill>
                            <a:srgbClr val="FF9900"/>
                          </a:solidFill>
                          <a:latin typeface="Arial"/>
                          <a:ea typeface="Arial"/>
                          <a:cs typeface="Arial"/>
                        </a:rPr>
                        <a:t>Valeur brute</a:t>
                      </a:r>
                    </a:p>
                  </a:txBody>
                  <a:tcPr marL="152400" marR="152400" marT="95250" marB="76200" anchor="ctr">
                    <a:solidFill>
                      <a:srgbClr val="191919"/>
                    </a:solidFill>
                  </a:tcPr>
                </a:tc>
                <a:tc>
                  <a:txBody>
                    <a:bodyPr/>
                    <a:lstStyle/>
                    <a:p>
                      <a:r>
                        <a:rPr sz="1650" b="1">
                          <a:solidFill>
                            <a:srgbClr val="FF9900"/>
                          </a:solidFill>
                          <a:latin typeface="Arial"/>
                          <a:ea typeface="Arial"/>
                          <a:cs typeface="Arial"/>
                        </a:rPr>
                        <a:t>Affichage</a:t>
                      </a:r>
                    </a:p>
                  </a:txBody>
                  <a:tcPr marL="152400" marR="152400" marT="95250" marB="76200" anchor="ctr">
                    <a:solidFill>
                      <a:srgbClr val="191919"/>
                    </a:solidFill>
                  </a:tcPr>
                </a:tc>
              </a:tr>
              <a:tr h="762000">
                <a:tc>
                  <a:txBody>
                    <a:bodyPr/>
                    <a:lstStyle/>
                    <a:p>
                      <a:r>
                        <a:rPr sz="1725">
                          <a:solidFill>
                            <a:srgbClr val="FFFFFF"/>
                          </a:solidFill>
                          <a:latin typeface="Arial"/>
                          <a:ea typeface="Arial"/>
                          <a:cs typeface="Arial"/>
                        </a:rPr>
                        <a:t>Température</a:t>
                      </a:r>
                    </a:p>
                  </a:txBody>
                  <a:tcPr marL="152400" marR="152400" marT="95250" marB="76200" anchor="ctr">
                    <a:solidFill>
                      <a:srgbClr val="000000"/>
                    </a:solidFill>
                  </a:tcPr>
                </a:tc>
                <a:tc>
                  <a:txBody>
                    <a:bodyPr/>
                    <a:lstStyle/>
                    <a:p>
                      <a:r>
                        <a:rPr sz="1725">
                          <a:solidFill>
                            <a:srgbClr val="FFFFFF"/>
                          </a:solidFill>
                          <a:latin typeface="Arial"/>
                          <a:ea typeface="Arial"/>
                          <a:cs typeface="Arial"/>
                        </a:rPr>
                        <a:t>4250</a:t>
                      </a:r>
                    </a:p>
                  </a:txBody>
                  <a:tcPr marL="152400" marR="152400" marT="95250" marB="76200" anchor="ctr">
                    <a:solidFill>
                      <a:srgbClr val="000000"/>
                    </a:solidFill>
                  </a:tcPr>
                </a:tc>
                <a:tc>
                  <a:txBody>
                    <a:bodyPr/>
                    <a:lstStyle/>
                    <a:p>
                      <a:r>
                        <a:rPr sz="1725">
                          <a:solidFill>
                            <a:srgbClr val="FFFFFF"/>
                          </a:solidFill>
                          <a:latin typeface="Arial"/>
                          <a:ea typeface="Arial"/>
                          <a:cs typeface="Arial"/>
                        </a:rPr>
                        <a:t>42,5 °C</a:t>
                      </a:r>
                    </a:p>
                  </a:txBody>
                  <a:tcPr marL="152400" marR="152400" marT="95250" marB="76200" anchor="ctr">
                    <a:solidFill>
                      <a:srgbClr val="000000"/>
                    </a:solidFill>
                  </a:tcPr>
                </a:tc>
              </a:tr>
              <a:tr h="762000">
                <a:tc>
                  <a:txBody>
                    <a:bodyPr/>
                    <a:lstStyle/>
                    <a:p>
                      <a:r>
                        <a:rPr sz="1725">
                          <a:solidFill>
                            <a:srgbClr val="FFFFFF"/>
                          </a:solidFill>
                          <a:latin typeface="Arial"/>
                          <a:ea typeface="Arial"/>
                          <a:cs typeface="Arial"/>
                        </a:rPr>
                        <a:t>Tension</a:t>
                      </a:r>
                    </a:p>
                  </a:txBody>
                  <a:tcPr marL="152400" marR="152400" marT="95250" marB="76200" anchor="ctr">
                    <a:solidFill>
                      <a:srgbClr val="000000"/>
                    </a:solidFill>
                  </a:tcPr>
                </a:tc>
                <a:tc>
                  <a:txBody>
                    <a:bodyPr/>
                    <a:lstStyle/>
                    <a:p>
                      <a:r>
                        <a:rPr sz="1725">
                          <a:solidFill>
                            <a:srgbClr val="FFFFFF"/>
                          </a:solidFill>
                          <a:latin typeface="Arial"/>
                          <a:ea typeface="Arial"/>
                          <a:cs typeface="Arial"/>
                        </a:rPr>
                        <a:t>24000</a:t>
                      </a:r>
                    </a:p>
                  </a:txBody>
                  <a:tcPr marL="152400" marR="152400" marT="95250" marB="76200" anchor="ctr">
                    <a:solidFill>
                      <a:srgbClr val="000000"/>
                    </a:solidFill>
                  </a:tcPr>
                </a:tc>
                <a:tc>
                  <a:txBody>
                    <a:bodyPr/>
                    <a:lstStyle/>
                    <a:p>
                      <a:r>
                        <a:rPr sz="1725">
                          <a:solidFill>
                            <a:srgbClr val="FFFFFF"/>
                          </a:solidFill>
                          <a:latin typeface="Arial"/>
                          <a:ea typeface="Arial"/>
                          <a:cs typeface="Arial"/>
                        </a:rPr>
                        <a:t>24 V</a:t>
                      </a:r>
                    </a:p>
                  </a:txBody>
                  <a:tcPr marL="152400" marR="152400" marT="95250" marB="76200" anchor="ctr">
                    <a:solidFill>
                      <a:srgbClr val="000000"/>
                    </a:solidFill>
                  </a:tcPr>
                </a:tc>
              </a:tr>
              <a:tr h="762000">
                <a:tc>
                  <a:txBody>
                    <a:bodyPr/>
                    <a:lstStyle/>
                    <a:p>
                      <a:r>
                        <a:rPr sz="1725">
                          <a:solidFill>
                            <a:srgbClr val="FFFFFF"/>
                          </a:solidFill>
                          <a:latin typeface="Arial"/>
                          <a:ea typeface="Arial"/>
                          <a:cs typeface="Arial"/>
                        </a:rPr>
                        <a:t>Courant</a:t>
                      </a:r>
                    </a:p>
                  </a:txBody>
                  <a:tcPr marL="152400" marR="152400" marT="95250" marB="76200" anchor="ctr">
                    <a:solidFill>
                      <a:srgbClr val="000000"/>
                    </a:solidFill>
                  </a:tcPr>
                </a:tc>
                <a:tc>
                  <a:txBody>
                    <a:bodyPr/>
                    <a:lstStyle/>
                    <a:p>
                      <a:r>
                        <a:rPr sz="1725">
                          <a:solidFill>
                            <a:srgbClr val="FFFFFF"/>
                          </a:solidFill>
                          <a:latin typeface="Arial"/>
                          <a:ea typeface="Arial"/>
                          <a:cs typeface="Arial"/>
                        </a:rPr>
                        <a:t>3000</a:t>
                      </a:r>
                    </a:p>
                  </a:txBody>
                  <a:tcPr marL="152400" marR="152400" marT="95250" marB="76200" anchor="ctr">
                    <a:solidFill>
                      <a:srgbClr val="000000"/>
                    </a:solidFill>
                  </a:tcPr>
                </a:tc>
                <a:tc>
                  <a:txBody>
                    <a:bodyPr/>
                    <a:lstStyle/>
                    <a:p>
                      <a:r>
                        <a:rPr sz="1725">
                          <a:solidFill>
                            <a:srgbClr val="FFFFFF"/>
                          </a:solidFill>
                          <a:latin typeface="Arial"/>
                          <a:ea typeface="Arial"/>
                          <a:cs typeface="Arial"/>
                        </a:rPr>
                        <a:t>3 A</a:t>
                      </a:r>
                    </a:p>
                  </a:txBody>
                  <a:tcPr marL="152400" marR="152400" marT="95250" marB="76200" anchor="ctr">
                    <a:solidFill>
                      <a:srgbClr val="000000"/>
                    </a:solidFill>
                  </a:tcPr>
                </a:tc>
              </a:tr>
            </a:tbl>
          </a:graphicData>
        </a:graphic>
      </p:graphicFrame>
      <p:sp>
        <p:nvSpPr>
          <p:cNvPr id="7" name="text-5">
            <a:extLst xmlns:a="http://schemas.openxmlformats.org/drawingml/2006/main">
              <a:ext uri="{FF2B5EF4-FFF2-40B4-BE49-F238E27FC236}">
                <a16:creationId xmlns:a16="http://schemas.microsoft.com/office/drawing/2014/main" id="{59FA5329-5BFD-4D27-AB0E-043477513DA4}"/>
              </a:ext>
            </a:extLst>
          </p:cNvPr>
          <p:cNvSpPr>
            <a:spLocks xmlns:a="http://schemas.openxmlformats.org/drawingml/2006/main" noGrp="1"/>
          </p:cNvSpPr>
          <p:nvPr/>
        </p:nvSpPr>
        <p:spPr>
          <a:xfrm xmlns:a="http://schemas.openxmlformats.org/drawingml/2006/main">
            <a:off x="609600" y="58388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Chaque erreur de structure devient un rejet compté.</a:t>
            </a:r>
          </a:p>
        </p:txBody>
      </p:sp>
    </p:spTree>
    <p:extLst>
      <p:ext uri="{BB962C8B-B14F-4D97-AF65-F5344CB8AC3E}">
        <p14:creationId xmlns:p14="http://schemas.microsoft.com/office/powerpoint/2010/main" val="12941671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FC3B29C-B853-46A4-9A68-61255BEFD8CE}"/>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Séquences et pertes estimées</a:t>
            </a:r>
          </a:p>
        </p:txBody>
      </p:sp>
      <p:sp>
        <p:nvSpPr>
          <p:cNvPr id="2" name="text-1">
            <a:extLst xmlns:a="http://schemas.openxmlformats.org/drawingml/2006/main">
              <a:ext uri="{FF2B5EF4-FFF2-40B4-BE49-F238E27FC236}">
                <a16:creationId xmlns:a16="http://schemas.microsoft.com/office/drawing/2014/main" id="{D3A86D8C-1703-4BE1-882D-9F93E136C04D}"/>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05</a:t>
            </a:r>
          </a:p>
        </p:txBody>
      </p:sp>
      <p:graphicFrame>
        <p:nvGraphicFramePr>
          <p:cNvPr id="8" name=""/>
          <p:cNvGraphicFramePr/>
          <p:nvPr/>
        </p:nvGraphicFramePr>
        <p:xfrm>
          <a:off xmlns:a="http://schemas.openxmlformats.org/drawingml/2006/main" x="609600" y="1666875"/>
          <a:ext xmlns:a="http://schemas.openxmlformats.org/drawingml/2006/main" cx="10972800" cy="3438525"/>
        </p:xfrm>
        <a:graphic xmlns:a="http://schemas.openxmlformats.org/drawingml/2006/main">
          <a:graphicData uri="http://schemas.openxmlformats.org/drawingml/2006/table">
            <a:tbl>
              <a:tblPr firstRow="0" bandRow="0"/>
              <a:tblGrid>
                <a:gridCol w="2190750"/>
                <a:gridCol w="4000500"/>
                <a:gridCol w="2381250"/>
                <a:gridCol w="2400300"/>
              </a:tblGrid>
              <a:tr h="542925">
                <a:tc>
                  <a:txBody>
                    <a:bodyPr/>
                    <a:lstStyle/>
                    <a:p>
                      <a:r>
                        <a:rPr sz="1800" b="1">
                          <a:solidFill>
                            <a:srgbClr val="FF9900"/>
                          </a:solidFill>
                          <a:latin typeface="Arial"/>
                          <a:ea typeface="Arial"/>
                          <a:cs typeface="Arial"/>
                        </a:rPr>
                        <a:t>Séquence reçue</a:t>
                      </a:r>
                    </a:p>
                  </a:txBody>
                  <a:tcPr marL="152400" marR="152400" marT="95250" marB="76200" anchor="ctr">
                    <a:solidFill>
                      <a:srgbClr val="191919"/>
                    </a:solidFill>
                  </a:tcPr>
                </a:tc>
                <a:tc>
                  <a:txBody>
                    <a:bodyPr/>
                    <a:lstStyle/>
                    <a:p>
                      <a:r>
                        <a:rPr sz="1800" b="1">
                          <a:solidFill>
                            <a:srgbClr val="FF9900"/>
                          </a:solidFill>
                          <a:latin typeface="Arial"/>
                          <a:ea typeface="Arial"/>
                          <a:cs typeface="Arial"/>
                        </a:rPr>
                        <a:t>Décision</a:t>
                      </a:r>
                    </a:p>
                  </a:txBody>
                  <a:tcPr marL="152400" marR="152400" marT="95250" marB="76200" anchor="ctr">
                    <a:solidFill>
                      <a:srgbClr val="191919"/>
                    </a:solidFill>
                  </a:tcPr>
                </a:tc>
                <a:tc>
                  <a:txBody>
                    <a:bodyPr/>
                    <a:lstStyle/>
                    <a:p>
                      <a:r>
                        <a:rPr sz="1800" b="1">
                          <a:solidFill>
                            <a:srgbClr val="FF9900"/>
                          </a:solidFill>
                          <a:latin typeface="Arial"/>
                          <a:ea typeface="Arial"/>
                          <a:cs typeface="Arial"/>
                        </a:rPr>
                        <a:t>Dernière acceptée</a:t>
                      </a:r>
                    </a:p>
                  </a:txBody>
                  <a:tcPr marL="152400" marR="152400" marT="95250" marB="76200" anchor="ctr">
                    <a:solidFill>
                      <a:srgbClr val="191919"/>
                    </a:solidFill>
                  </a:tcPr>
                </a:tc>
                <a:tc>
                  <a:txBody>
                    <a:bodyPr/>
                    <a:lstStyle/>
                    <a:p>
                      <a:r>
                        <a:rPr sz="1800" b="1">
                          <a:solidFill>
                            <a:srgbClr val="FF9900"/>
                          </a:solidFill>
                          <a:latin typeface="Arial"/>
                          <a:ea typeface="Arial"/>
                          <a:cs typeface="Arial"/>
                        </a:rPr>
                        <a:t>Pertes cumulées</a:t>
                      </a:r>
                    </a:p>
                  </a:txBody>
                  <a:tcPr marL="152400" marR="152400" marT="95250" marB="76200" anchor="ctr">
                    <a:solidFill>
                      <a:srgbClr val="191919"/>
                    </a:solidFill>
                  </a:tcPr>
                </a:tc>
              </a:tr>
              <a:tr h="723900">
                <a:tc>
                  <a:txBody>
                    <a:bodyPr/>
                    <a:lstStyle/>
                    <a:p>
                      <a:r>
                        <a:rPr sz="1875">
                          <a:solidFill>
                            <a:srgbClr val="FFFFFF"/>
                          </a:solidFill>
                          <a:latin typeface="Arial"/>
                          <a:ea typeface="Arial"/>
                          <a:cs typeface="Arial"/>
                        </a:rPr>
                        <a:t>10</a:t>
                      </a:r>
                    </a:p>
                  </a:txBody>
                  <a:tcPr marL="152400" marR="152400" marT="95250" marB="76200" anchor="ctr">
                    <a:solidFill>
                      <a:srgbClr val="000000"/>
                    </a:solidFill>
                  </a:tcPr>
                </a:tc>
                <a:tc>
                  <a:txBody>
                    <a:bodyPr/>
                    <a:lstStyle/>
                    <a:p>
                      <a:r>
                        <a:rPr sz="1875">
                          <a:solidFill>
                            <a:srgbClr val="FFFFFF"/>
                          </a:solidFill>
                          <a:latin typeface="Arial"/>
                          <a:ea typeface="Arial"/>
                          <a:cs typeface="Arial"/>
                        </a:rPr>
                        <a:t>Accepter la première trame</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10</a:t>
                      </a:r>
                    </a:p>
                  </a:txBody>
                  <a:tcPr marL="152400" marR="152400" marT="95250" marB="76200" anchor="ctr">
                    <a:solidFill>
                      <a:srgbClr val="000000"/>
                    </a:solidFill>
                  </a:tcPr>
                </a:tc>
                <a:tc>
                  <a:txBody>
                    <a:bodyPr/>
                    <a:lstStyle/>
                    <a:p>
                      <a:r>
                        <a:rPr sz="1875">
                          <a:solidFill>
                            <a:srgbClr val="FFFFFF"/>
                          </a:solidFill>
                          <a:latin typeface="Arial"/>
                          <a:ea typeface="Arial"/>
                          <a:cs typeface="Arial"/>
                        </a:rPr>
                        <a:t>0</a:t>
                      </a:r>
                    </a:p>
                  </a:txBody>
                  <a:tcPr marL="152400" marR="152400" marT="95250" marB="76200" anchor="ctr">
                    <a:solidFill>
                      <a:srgbClr val="000000"/>
                    </a:solidFill>
                  </a:tcPr>
                </a:tc>
              </a:tr>
              <a:tr h="723900">
                <a:tc>
                  <a:txBody>
                    <a:bodyPr/>
                    <a:lstStyle/>
                    <a:p>
                      <a:r>
                        <a:rPr sz="1875">
                          <a:solidFill>
                            <a:srgbClr val="FFFFFF"/>
                          </a:solidFill>
                          <a:latin typeface="Arial"/>
                          <a:ea typeface="Arial"/>
                          <a:cs typeface="Arial"/>
                        </a:rPr>
                        <a:t>12</a:t>
                      </a:r>
                    </a:p>
                  </a:txBody>
                  <a:tcPr marL="152400" marR="152400" marT="95250" marB="76200" anchor="ctr">
                    <a:solidFill>
                      <a:srgbClr val="000000"/>
                    </a:solidFill>
                  </a:tcPr>
                </a:tc>
                <a:tc>
                  <a:txBody>
                    <a:bodyPr/>
                    <a:lstStyle/>
                    <a:p>
                      <a:r>
                        <a:rPr sz="1875">
                          <a:solidFill>
                            <a:srgbClr val="FFFFFF"/>
                          </a:solidFill>
                          <a:latin typeface="Arial"/>
                          <a:ea typeface="Arial"/>
                          <a:cs typeface="Arial"/>
                        </a:rPr>
                        <a:t>Accepter et compter un trou</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12</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a:t>
                      </a:r>
                    </a:p>
                  </a:txBody>
                  <a:tcPr marL="152400" marR="152400" marT="95250" marB="76200" anchor="ctr">
                    <a:solidFill>
                      <a:srgbClr val="000000"/>
                    </a:solidFill>
                  </a:tcPr>
                </a:tc>
              </a:tr>
              <a:tr h="723900">
                <a:tc>
                  <a:txBody>
                    <a:bodyPr/>
                    <a:lstStyle/>
                    <a:p>
                      <a:r>
                        <a:rPr sz="1875">
                          <a:solidFill>
                            <a:srgbClr val="FFFFFF"/>
                          </a:solidFill>
                          <a:latin typeface="Arial"/>
                          <a:ea typeface="Arial"/>
                          <a:cs typeface="Arial"/>
                        </a:rPr>
                        <a:t>12</a:t>
                      </a:r>
                    </a:p>
                  </a:txBody>
                  <a:tcPr marL="152400" marR="152400" marT="95250" marB="76200" anchor="ctr">
                    <a:solidFill>
                      <a:srgbClr val="000000"/>
                    </a:solidFill>
                  </a:tcPr>
                </a:tc>
                <a:tc>
                  <a:txBody>
                    <a:bodyPr/>
                    <a:lstStyle/>
                    <a:p>
                      <a:r>
                        <a:rPr sz="1875">
                          <a:solidFill>
                            <a:srgbClr val="F6CF65"/>
                          </a:solidFill>
                          <a:latin typeface="Arial"/>
                          <a:ea typeface="Arial"/>
                          <a:cs typeface="Arial"/>
                        </a:rPr>
                        <a:t>Écarter le doublon</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12</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a:t>
                      </a:r>
                    </a:p>
                  </a:txBody>
                  <a:tcPr marL="152400" marR="152400" marT="95250" marB="76200" anchor="ctr">
                    <a:solidFill>
                      <a:srgbClr val="000000"/>
                    </a:solidFill>
                  </a:tcPr>
                </a:tc>
              </a:tr>
              <a:tr h="723900">
                <a:tc>
                  <a:txBody>
                    <a:bodyPr/>
                    <a:lstStyle/>
                    <a:p>
                      <a:r>
                        <a:rPr sz="1875">
                          <a:solidFill>
                            <a:srgbClr val="FFFFFF"/>
                          </a:solidFill>
                          <a:latin typeface="Arial"/>
                          <a:ea typeface="Arial"/>
                          <a:cs typeface="Arial"/>
                        </a:rPr>
                        <a:t>11</a:t>
                      </a:r>
                    </a:p>
                  </a:txBody>
                  <a:tcPr marL="152400" marR="152400" marT="95250" marB="76200" anchor="ctr">
                    <a:solidFill>
                      <a:srgbClr val="000000"/>
                    </a:solidFill>
                  </a:tcPr>
                </a:tc>
                <a:tc>
                  <a:txBody>
                    <a:bodyPr/>
                    <a:lstStyle/>
                    <a:p>
                      <a:r>
                        <a:rPr sz="1875">
                          <a:solidFill>
                            <a:srgbClr val="F6CF65"/>
                          </a:solidFill>
                          <a:latin typeface="Arial"/>
                          <a:ea typeface="Arial"/>
                          <a:cs typeface="Arial"/>
                        </a:rPr>
                        <a:t>Écarter le retard</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12</a:t>
                      </a:r>
                    </a:p>
                  </a:txBody>
                  <a:tcPr marL="152400" marR="152400" marT="95250" marB="76200" anchor="ctr">
                    <a:solidFill>
                      <a:srgbClr val="000000"/>
                    </a:solidFill>
                  </a:tcPr>
                </a:tc>
                <a:tc>
                  <a:txBody>
                    <a:bodyPr/>
                    <a:lstStyle/>
                    <a:p>
                      <a:r>
                        <a:rPr sz="1875">
                          <a:solidFill>
                            <a:srgbClr val="FFFFFF"/>
                          </a:solidFill>
                          <a:latin typeface="Arial"/>
                          <a:ea typeface="Arial"/>
                          <a:cs typeface="Arial"/>
                        </a:rPr>
                        <a:t>1</a:t>
                      </a:r>
                    </a:p>
                  </a:txBody>
                  <a:tcPr marL="152400" marR="152400" marT="95250" marB="76200" anchor="ctr">
                    <a:solidFill>
                      <a:srgbClr val="000000"/>
                    </a:solidFill>
                  </a:tcPr>
                </a:tc>
              </a:tr>
            </a:tbl>
          </a:graphicData>
        </a:graphic>
      </p:graphicFrame>
      <p:sp>
        <p:nvSpPr>
          <p:cNvPr id="4" name="text-2">
            <a:extLst xmlns:a="http://schemas.openxmlformats.org/drawingml/2006/main">
              <a:ext uri="{FF2B5EF4-FFF2-40B4-BE49-F238E27FC236}">
                <a16:creationId xmlns:a16="http://schemas.microsoft.com/office/drawing/2014/main" id="{CFDFB065-6EC1-4626-9B5C-9174AF3ECFB6}"/>
              </a:ext>
            </a:extLst>
          </p:cNvPr>
          <p:cNvSpPr>
            <a:spLocks xmlns:a="http://schemas.openxmlformats.org/drawingml/2006/main" noGrp="1"/>
          </p:cNvSpPr>
          <p:nvPr/>
        </p:nvSpPr>
        <p:spPr>
          <a:xfrm xmlns:a="http://schemas.openxmlformats.org/drawingml/2006/main">
            <a:off x="609600" y="55816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9900"/>
                </a:solidFill>
                <a:latin typeface="Arial"/>
                <a:ea typeface="Arial"/>
                <a:cs typeface="Arial"/>
              </a:defRPr>
            </a:pPr>
            <a:r>
              <a:rPr sz="2250" b="0">
                <a:solidFill>
                  <a:srgbClr val="FF9900"/>
                </a:solidFill>
                <a:latin typeface="Arial"/>
                <a:ea typeface="Arial"/>
                <a:cs typeface="Arial"/>
              </a:rPr>
              <a:t>delta = (seq - lastSeq) &gt;&gt;&gt; 0</a:t>
            </a:r>
          </a:p>
        </p:txBody>
      </p:sp>
      <p:sp>
        <p:nvSpPr>
          <p:cNvPr id="5" name="text-3">
            <a:extLst xmlns:a="http://schemas.openxmlformats.org/drawingml/2006/main">
              <a:ext uri="{FF2B5EF4-FFF2-40B4-BE49-F238E27FC236}">
                <a16:creationId xmlns:a16="http://schemas.microsoft.com/office/drawing/2014/main" id="{6BDBCCC1-DEC7-452C-A70D-760E5004A8E2}"/>
              </a:ext>
            </a:extLst>
          </p:cNvPr>
          <p:cNvSpPr>
            <a:spLocks xmlns:a="http://schemas.openxmlformats.org/drawingml/2006/main" noGrp="1"/>
          </p:cNvSpPr>
          <p:nvPr/>
        </p:nvSpPr>
        <p:spPr>
          <a:xfrm xmlns:a="http://schemas.openxmlformats.org/drawingml/2006/main">
            <a:off x="6858000" y="56197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3B3B3"/>
                </a:solidFill>
                <a:latin typeface="Arial"/>
                <a:ea typeface="Arial"/>
                <a:cs typeface="Arial"/>
              </a:defRPr>
            </a:pPr>
            <a:r>
              <a:rPr sz="1950" b="0">
                <a:solidFill>
                  <a:srgbClr val="B3B3B3"/>
                </a:solidFill>
                <a:latin typeface="Arial"/>
                <a:ea typeface="Arial"/>
                <a:cs typeface="Arial"/>
              </a:rPr>
              <a:t>Le wrap uint32 conserve l’ordre.</a:t>
            </a:r>
          </a:p>
        </p:txBody>
      </p:sp>
    </p:spTree>
    <p:extLst>
      <p:ext uri="{BB962C8B-B14F-4D97-AF65-F5344CB8AC3E}">
        <p14:creationId xmlns:p14="http://schemas.microsoft.com/office/powerpoint/2010/main" val="1612255146"/>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9BCB32A-49B3-43A8-A50D-7D4F273599C9}"/>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Présence, fraîcheur et durée d’alerte</a:t>
            </a:r>
          </a:p>
        </p:txBody>
      </p:sp>
      <p:sp>
        <p:nvSpPr>
          <p:cNvPr id="2" name="text-1">
            <a:extLst xmlns:a="http://schemas.openxmlformats.org/drawingml/2006/main">
              <a:ext uri="{FF2B5EF4-FFF2-40B4-BE49-F238E27FC236}">
                <a16:creationId xmlns:a16="http://schemas.microsoft.com/office/drawing/2014/main" id="{E45C99F8-601F-4588-8C8E-849CFE562000}"/>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06</a:t>
            </a:r>
          </a:p>
        </p:txBody>
      </p:sp>
      <p:graphicFrame>
        <p:nvGraphicFramePr>
          <p:cNvPr id="7" name=""/>
          <p:cNvGraphicFramePr/>
          <p:nvPr/>
        </p:nvGraphicFramePr>
        <p:xfrm>
          <a:off xmlns:a="http://schemas.openxmlformats.org/drawingml/2006/main" x="609600" y="1666875"/>
          <a:ext xmlns:a="http://schemas.openxmlformats.org/drawingml/2006/main" cx="10972800" cy="3524250"/>
        </p:xfrm>
        <a:graphic xmlns:a="http://schemas.openxmlformats.org/drawingml/2006/main">
          <a:graphicData uri="http://schemas.openxmlformats.org/drawingml/2006/table">
            <a:tbl>
              <a:tblPr firstRow="0" bandRow="0"/>
              <a:tblGrid>
                <a:gridCol w="3381375"/>
                <a:gridCol w="4572000"/>
                <a:gridCol w="3019425"/>
              </a:tblGrid>
              <a:tr h="552450">
                <a:tc>
                  <a:txBody>
                    <a:bodyPr/>
                    <a:lstStyle/>
                    <a:p>
                      <a:r>
                        <a:rPr sz="1875" b="1">
                          <a:solidFill>
                            <a:srgbClr val="FF9900"/>
                          </a:solidFill>
                          <a:latin typeface="Arial"/>
                          <a:ea typeface="Arial"/>
                          <a:cs typeface="Arial"/>
                        </a:rPr>
                        <a:t>Situation</a:t>
                      </a:r>
                    </a:p>
                  </a:txBody>
                  <a:tcPr marL="152400" marR="152400" marT="95250" marB="76200" anchor="ctr">
                    <a:solidFill>
                      <a:srgbClr val="191919"/>
                    </a:solidFill>
                  </a:tcPr>
                </a:tc>
                <a:tc>
                  <a:txBody>
                    <a:bodyPr/>
                    <a:lstStyle/>
                    <a:p>
                      <a:r>
                        <a:rPr sz="1875" b="1">
                          <a:solidFill>
                            <a:srgbClr val="FF9900"/>
                          </a:solidFill>
                          <a:latin typeface="Arial"/>
                          <a:ea typeface="Arial"/>
                          <a:cs typeface="Arial"/>
                        </a:rPr>
                        <a:t>Condition par défaut</a:t>
                      </a:r>
                    </a:p>
                  </a:txBody>
                  <a:tcPr marL="152400" marR="152400" marT="95250" marB="76200" anchor="ctr">
                    <a:solidFill>
                      <a:srgbClr val="191919"/>
                    </a:solidFill>
                  </a:tcPr>
                </a:tc>
                <a:tc>
                  <a:txBody>
                    <a:bodyPr/>
                    <a:lstStyle/>
                    <a:p>
                      <a:r>
                        <a:rPr sz="1875" b="1">
                          <a:solidFill>
                            <a:srgbClr val="FF9900"/>
                          </a:solidFill>
                          <a:latin typeface="Arial"/>
                          <a:ea typeface="Arial"/>
                          <a:cs typeface="Arial"/>
                        </a:rPr>
                        <a:t>État affiché</a:t>
                      </a:r>
                    </a:p>
                  </a:txBody>
                  <a:tcPr marL="152400" marR="152400" marT="95250" marB="76200" anchor="ctr">
                    <a:solidFill>
                      <a:srgbClr val="191919"/>
                    </a:solidFill>
                  </a:tcPr>
                </a:tc>
              </a:tr>
              <a:tr h="742950">
                <a:tc>
                  <a:txBody>
                    <a:bodyPr/>
                    <a:lstStyle/>
                    <a:p>
                      <a:r>
                        <a:rPr sz="1950">
                          <a:solidFill>
                            <a:srgbClr val="FFFFFF"/>
                          </a:solidFill>
                          <a:latin typeface="Arial"/>
                          <a:ea typeface="Arial"/>
                          <a:cs typeface="Arial"/>
                        </a:rPr>
                        <a:t>Température haute</a:t>
                      </a:r>
                    </a:p>
                  </a:txBody>
                  <a:tcPr marL="152400" marR="152400" marT="95250" marB="76200" anchor="ctr">
                    <a:solidFill>
                      <a:srgbClr val="000000"/>
                    </a:solidFill>
                  </a:tcPr>
                </a:tc>
                <a:tc>
                  <a:txBody>
                    <a:bodyPr/>
                    <a:lstStyle/>
                    <a:p>
                      <a:r>
                        <a:rPr sz="1950">
                          <a:solidFill>
                            <a:srgbClr val="FFFFFF"/>
                          </a:solidFill>
                          <a:latin typeface="Arial"/>
                          <a:ea typeface="Arial"/>
                          <a:cs typeface="Arial"/>
                        </a:rPr>
                        <a:t>&gt; 70 °C depuis moins de 3 s</a:t>
                      </a:r>
                    </a:p>
                  </a:txBody>
                  <a:tcPr marL="152400" marR="152400" marT="95250" marB="76200" anchor="ctr">
                    <a:solidFill>
                      <a:srgbClr val="000000"/>
                    </a:solidFill>
                  </a:tcPr>
                </a:tc>
                <a:tc>
                  <a:txBody>
                    <a:bodyPr/>
                    <a:lstStyle/>
                    <a:p>
                      <a:r>
                        <a:rPr sz="1950">
                          <a:solidFill>
                            <a:srgbClr val="FFFFFF"/>
                          </a:solidFill>
                          <a:latin typeface="Arial"/>
                          <a:ea typeface="Arial"/>
                          <a:cs typeface="Arial"/>
                        </a:rPr>
                        <a:t>Observation</a:t>
                      </a:r>
                    </a:p>
                  </a:txBody>
                  <a:tcPr marL="152400" marR="152400" marT="95250" marB="76200" anchor="ctr">
                    <a:solidFill>
                      <a:srgbClr val="000000"/>
                    </a:solidFill>
                  </a:tcPr>
                </a:tc>
              </a:tr>
              <a:tr h="742950">
                <a:tc>
                  <a:txBody>
                    <a:bodyPr/>
                    <a:lstStyle/>
                    <a:p>
                      <a:r>
                        <a:rPr sz="1950">
                          <a:solidFill>
                            <a:srgbClr val="FFFFFF"/>
                          </a:solidFill>
                          <a:latin typeface="Arial"/>
                          <a:ea typeface="Arial"/>
                          <a:cs typeface="Arial"/>
                        </a:rPr>
                        <a:t>Dépassement continu</a:t>
                      </a:r>
                    </a:p>
                  </a:txBody>
                  <a:tcPr marL="152400" marR="152400" marT="95250" marB="76200" anchor="ctr">
                    <a:solidFill>
                      <a:srgbClr val="000000"/>
                    </a:solidFill>
                  </a:tcPr>
                </a:tc>
                <a:tc>
                  <a:txBody>
                    <a:bodyPr/>
                    <a:lstStyle/>
                    <a:p>
                      <a:r>
                        <a:rPr sz="1950">
                          <a:solidFill>
                            <a:srgbClr val="FFFFFF"/>
                          </a:solidFill>
                          <a:latin typeface="Arial"/>
                          <a:ea typeface="Arial"/>
                          <a:cs typeface="Arial"/>
                        </a:rPr>
                        <a:t>&gt; 70 °C pendant 3 s</a:t>
                      </a:r>
                    </a:p>
                  </a:txBody>
                  <a:tcPr marL="152400" marR="152400" marT="95250" marB="76200" anchor="ctr">
                    <a:solidFill>
                      <a:srgbClr val="000000"/>
                    </a:solidFill>
                  </a:tcPr>
                </a:tc>
                <a:tc>
                  <a:txBody>
                    <a:bodyPr/>
                    <a:lstStyle/>
                    <a:p>
                      <a:r>
                        <a:rPr sz="1950">
                          <a:solidFill>
                            <a:srgbClr val="FFFFFF"/>
                          </a:solidFill>
                          <a:latin typeface="Arial"/>
                          <a:ea typeface="Arial"/>
                          <a:cs typeface="Arial"/>
                        </a:rPr>
                        <a:t>Alerte</a:t>
                      </a:r>
                    </a:p>
                  </a:txBody>
                  <a:tcPr marL="152400" marR="152400" marT="95250" marB="76200" anchor="ctr">
                    <a:solidFill>
                      <a:srgbClr val="000000"/>
                    </a:solidFill>
                  </a:tcPr>
                </a:tc>
              </a:tr>
              <a:tr h="742950">
                <a:tc>
                  <a:txBody>
                    <a:bodyPr/>
                    <a:lstStyle/>
                    <a:p>
                      <a:r>
                        <a:rPr sz="1950">
                          <a:solidFill>
                            <a:srgbClr val="FFFFFF"/>
                          </a:solidFill>
                          <a:latin typeface="Arial"/>
                          <a:ea typeface="Arial"/>
                          <a:cs typeface="Arial"/>
                        </a:rPr>
                        <a:t>Mesure non actualisée</a:t>
                      </a:r>
                    </a:p>
                  </a:txBody>
                  <a:tcPr marL="152400" marR="152400" marT="95250" marB="76200" anchor="ctr">
                    <a:solidFill>
                      <a:srgbClr val="000000"/>
                    </a:solidFill>
                  </a:tcPr>
                </a:tc>
                <a:tc>
                  <a:txBody>
                    <a:bodyPr/>
                    <a:lstStyle/>
                    <a:p>
                      <a:r>
                        <a:rPr sz="1950">
                          <a:solidFill>
                            <a:srgbClr val="FFFFFF"/>
                          </a:solidFill>
                          <a:latin typeface="Arial"/>
                          <a:ea typeface="Arial"/>
                          <a:cs typeface="Arial"/>
                        </a:rPr>
                        <a:t>Après 2 s</a:t>
                      </a:r>
                    </a:p>
                  </a:txBody>
                  <a:tcPr marL="152400" marR="152400" marT="95250" marB="76200" anchor="ctr">
                    <a:solidFill>
                      <a:srgbClr val="000000"/>
                    </a:solidFill>
                  </a:tcPr>
                </a:tc>
                <a:tc>
                  <a:txBody>
                    <a:bodyPr/>
                    <a:lstStyle/>
                    <a:p>
                      <a:r>
                        <a:rPr sz="1950">
                          <a:solidFill>
                            <a:srgbClr val="FFFFFF"/>
                          </a:solidFill>
                          <a:latin typeface="Arial"/>
                          <a:ea typeface="Arial"/>
                          <a:cs typeface="Arial"/>
                        </a:rPr>
                        <a:t>Mesures périmées</a:t>
                      </a:r>
                    </a:p>
                  </a:txBody>
                  <a:tcPr marL="152400" marR="152400" marT="95250" marB="76200" anchor="ctr">
                    <a:solidFill>
                      <a:srgbClr val="000000"/>
                    </a:solidFill>
                  </a:tcPr>
                </a:tc>
              </a:tr>
              <a:tr h="742950">
                <a:tc>
                  <a:txBody>
                    <a:bodyPr/>
                    <a:lstStyle/>
                    <a:p>
                      <a:r>
                        <a:rPr sz="1950">
                          <a:solidFill>
                            <a:srgbClr val="FFFFFF"/>
                          </a:solidFill>
                          <a:latin typeface="Arial"/>
                          <a:ea typeface="Arial"/>
                          <a:cs typeface="Arial"/>
                        </a:rPr>
                        <a:t>Aucune trame acceptée</a:t>
                      </a:r>
                    </a:p>
                  </a:txBody>
                  <a:tcPr marL="152400" marR="152400" marT="95250" marB="76200" anchor="ctr">
                    <a:solidFill>
                      <a:srgbClr val="000000"/>
                    </a:solidFill>
                  </a:tcPr>
                </a:tc>
                <a:tc>
                  <a:txBody>
                    <a:bodyPr/>
                    <a:lstStyle/>
                    <a:p>
                      <a:r>
                        <a:rPr sz="1950">
                          <a:solidFill>
                            <a:srgbClr val="FFFFFF"/>
                          </a:solidFill>
                          <a:latin typeface="Arial"/>
                          <a:ea typeface="Arial"/>
                          <a:cs typeface="Arial"/>
                        </a:rPr>
                        <a:t>Après 3 s</a:t>
                      </a:r>
                    </a:p>
                  </a:txBody>
                  <a:tcPr marL="152400" marR="152400" marT="95250" marB="76200" anchor="ctr">
                    <a:solidFill>
                      <a:srgbClr val="000000"/>
                    </a:solidFill>
                  </a:tcPr>
                </a:tc>
                <a:tc>
                  <a:txBody>
                    <a:bodyPr/>
                    <a:lstStyle/>
                    <a:p>
                      <a:r>
                        <a:rPr sz="1950">
                          <a:solidFill>
                            <a:srgbClr val="FFFFFF"/>
                          </a:solidFill>
                          <a:latin typeface="Arial"/>
                          <a:ea typeface="Arial"/>
                          <a:cs typeface="Arial"/>
                        </a:rPr>
                        <a:t>Hors ligne</a:t>
                      </a:r>
                    </a:p>
                  </a:txBody>
                  <a:tcPr marL="152400" marR="152400" marT="95250" marB="76200" anchor="ctr">
                    <a:solidFill>
                      <a:srgbClr val="000000"/>
                    </a:solidFill>
                  </a:tcPr>
                </a:tc>
              </a:tr>
            </a:tbl>
          </a:graphicData>
        </a:graphic>
      </p:graphicFrame>
      <p:sp>
        <p:nvSpPr>
          <p:cNvPr id="4" name="text-2">
            <a:extLst xmlns:a="http://schemas.openxmlformats.org/drawingml/2006/main">
              <a:ext uri="{FF2B5EF4-FFF2-40B4-BE49-F238E27FC236}">
                <a16:creationId xmlns:a16="http://schemas.microsoft.com/office/drawing/2014/main" id="{4E01621B-8424-40E6-9F69-078C8E3EF9BE}"/>
              </a:ext>
            </a:extLst>
          </p:cNvPr>
          <p:cNvSpPr>
            <a:spLocks xmlns:a="http://schemas.openxmlformats.org/drawingml/2006/main" noGrp="1"/>
          </p:cNvSpPr>
          <p:nvPr/>
        </p:nvSpPr>
        <p:spPr>
          <a:xfrm xmlns:a="http://schemas.openxmlformats.org/drawingml/2006/main">
            <a:off x="609600" y="5810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Un heartbeat confirme la présence, sans rafraîchir les mesures.</a:t>
            </a:r>
          </a:p>
        </p:txBody>
      </p:sp>
    </p:spTree>
    <p:extLst>
      <p:ext uri="{BB962C8B-B14F-4D97-AF65-F5344CB8AC3E}">
        <p14:creationId xmlns:p14="http://schemas.microsoft.com/office/powerpoint/2010/main" val="4521466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084D13C-3063-4F77-B483-5BB0E0A17BBD}"/>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Dashboard web</a:t>
            </a:r>
          </a:p>
        </p:txBody>
      </p:sp>
      <p:sp>
        <p:nvSpPr>
          <p:cNvPr id="2" name="text-1">
            <a:extLst xmlns:a="http://schemas.openxmlformats.org/drawingml/2006/main">
              <a:ext uri="{FF2B5EF4-FFF2-40B4-BE49-F238E27FC236}">
                <a16:creationId xmlns:a16="http://schemas.microsoft.com/office/drawing/2014/main" id="{69872A21-1A7A-44D1-A91C-445237699A82}"/>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07</a:t>
            </a:r>
          </a:p>
        </p:txBody>
      </p:sp>
      <p:sp>
        <p:nvSpPr>
          <p:cNvPr id="3" name="text-2">
            <a:extLst xmlns:a="http://schemas.openxmlformats.org/drawingml/2006/main">
              <a:ext uri="{FF2B5EF4-FFF2-40B4-BE49-F238E27FC236}">
                <a16:creationId xmlns:a16="http://schemas.microsoft.com/office/drawing/2014/main" id="{B45A4379-CC79-4206-A4E8-102E890B350D}"/>
              </a:ext>
            </a:extLst>
          </p:cNvPr>
          <p:cNvSpPr>
            <a:spLocks xmlns:a="http://schemas.openxmlformats.org/drawingml/2006/main" noGrp="1"/>
          </p:cNvSpPr>
          <p:nvPr/>
        </p:nvSpPr>
        <p:spPr>
          <a:xfrm xmlns:a="http://schemas.openxmlformats.org/drawingml/2006/main">
            <a:off x="609600" y="1133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3B3B3"/>
                </a:solidFill>
                <a:latin typeface="Arial"/>
                <a:ea typeface="Arial"/>
                <a:cs typeface="Arial"/>
              </a:defRPr>
            </a:pPr>
            <a:r>
              <a:rPr sz="2100" b="0">
                <a:solidFill>
                  <a:srgbClr val="B3B3B3"/>
                </a:solidFill>
                <a:latin typeface="Arial"/>
                <a:ea typeface="Arial"/>
                <a:cs typeface="Arial"/>
              </a:rPr>
              <a:t>Vue globale en direct, recherche par appareil et historique consultable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2e0ea0ad67a4bf8"/>
          <a:srcRect xmlns:a="http://schemas.openxmlformats.org/drawingml/2006/main" l="7970" t="20400" r="2930" b="31000"/>
          <a:stretch xmlns:a="http://schemas.openxmlformats.org/drawingml/2006/main"/>
        </p:blipFill>
        <p:spPr>
          <a:xfrm xmlns:a="http://schemas.openxmlformats.org/drawingml/2006/main">
            <a:off x="609600" y="1657350"/>
            <a:ext cx="10972800" cy="43815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44B12369-36E4-4E9A-8D86-1433D7365DAB}"/>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3B3B3"/>
                </a:solidFill>
                <a:latin typeface="Arial"/>
                <a:ea typeface="Arial"/>
                <a:cs typeface="Arial"/>
              </a:defRPr>
            </a:pPr>
            <a:r>
              <a:rPr sz="1650" b="0">
                <a:solidFill>
                  <a:srgbClr val="B3B3B3"/>
                </a:solidFill>
                <a:latin typeface="Arial"/>
                <a:ea typeface="Arial"/>
                <a:cs typeface="Arial"/>
              </a:rPr>
              <a:t>Capture réelle de la démo locale</a:t>
            </a:r>
          </a:p>
        </p:txBody>
      </p:sp>
    </p:spTree>
    <p:extLst>
      <p:ext uri="{BB962C8B-B14F-4D97-AF65-F5344CB8AC3E}">
        <p14:creationId xmlns:p14="http://schemas.microsoft.com/office/powerpoint/2010/main" val="1847265048"/>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CF6F7B3-1FB1-4B51-A22F-4CFA9646E667}"/>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Interface CLI</a:t>
            </a:r>
          </a:p>
        </p:txBody>
      </p:sp>
      <p:sp>
        <p:nvSpPr>
          <p:cNvPr id="2" name="text-1">
            <a:extLst xmlns:a="http://schemas.openxmlformats.org/drawingml/2006/main">
              <a:ext uri="{FF2B5EF4-FFF2-40B4-BE49-F238E27FC236}">
                <a16:creationId xmlns:a16="http://schemas.microsoft.com/office/drawing/2014/main" id="{80E0B14A-03DB-4B0D-8FB5-4F53AF8ED508}"/>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c8fd49f85f34a3e"/>
          <a:stretch xmlns:a="http://schemas.openxmlformats.org/drawingml/2006/main"/>
        </p:blipFill>
        <p:spPr>
          <a:xfrm xmlns:a="http://schemas.openxmlformats.org/drawingml/2006/main">
            <a:off x="495300" y="1387588"/>
            <a:ext cx="7524750" cy="5168674"/>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B9B82A7F-A846-43B0-993A-7FA33943952B}"/>
              </a:ext>
            </a:extLst>
          </p:cNvPr>
          <p:cNvSpPr>
            <a:spLocks xmlns:a="http://schemas.openxmlformats.org/drawingml/2006/main" noGrp="1"/>
          </p:cNvSpPr>
          <p:nvPr/>
        </p:nvSpPr>
        <p:spPr>
          <a:xfrm xmlns:a="http://schemas.openxmlformats.org/drawingml/2006/main">
            <a:off x="8591550" y="173355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9900"/>
                </a:solidFill>
                <a:latin typeface="Arial"/>
                <a:ea typeface="Arial"/>
                <a:cs typeface="Arial"/>
              </a:defRPr>
            </a:pPr>
            <a:r>
              <a:rPr sz="2550" b="1">
                <a:solidFill>
                  <a:srgbClr val="FF9900"/>
                </a:solidFill>
                <a:latin typeface="Arial"/>
                <a:ea typeface="Arial"/>
                <a:cs typeface="Arial"/>
              </a:rPr>
              <a:t>Même hub</a:t>
            </a:r>
          </a:p>
          <a:p xmlns:a="http://schemas.openxmlformats.org/drawingml/2006/main">
            <a:pPr>
              <a:defRPr sz="2550" b="1">
                <a:solidFill>
                  <a:srgbClr val="FF9900"/>
                </a:solidFill>
                <a:latin typeface="Arial"/>
                <a:ea typeface="Arial"/>
                <a:cs typeface="Arial"/>
              </a:defRPr>
            </a:pPr>
            <a:r>
              <a:rPr sz="2550" b="1">
                <a:solidFill>
                  <a:srgbClr val="FF9900"/>
                </a:solidFill>
                <a:latin typeface="Arial"/>
                <a:ea typeface="Arial"/>
                <a:cs typeface="Arial"/>
              </a:rPr>
              <a:t>Même synthèse</a:t>
            </a:r>
          </a:p>
        </p:txBody>
      </p:sp>
      <p:sp>
        <p:nvSpPr>
          <p:cNvPr id="5" name="text-3">
            <a:extLst xmlns:a="http://schemas.openxmlformats.org/drawingml/2006/main">
              <a:ext uri="{FF2B5EF4-FFF2-40B4-BE49-F238E27FC236}">
                <a16:creationId xmlns:a16="http://schemas.microsoft.com/office/drawing/2014/main" id="{1666F9F4-1625-4129-A2D7-F524F783ED50}"/>
              </a:ext>
            </a:extLst>
          </p:cNvPr>
          <p:cNvSpPr>
            <a:spLocks xmlns:a="http://schemas.openxmlformats.org/drawingml/2006/main" noGrp="1"/>
          </p:cNvSpPr>
          <p:nvPr/>
        </p:nvSpPr>
        <p:spPr>
          <a:xfrm xmlns:a="http://schemas.openxmlformats.org/drawingml/2006/main">
            <a:off x="8591550" y="3238500"/>
            <a:ext cx="295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   rechercher</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f   filtrer</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Espace   pause</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h   historique</a:t>
            </a:r>
          </a:p>
        </p:txBody>
      </p:sp>
      <p:sp>
        <p:nvSpPr>
          <p:cNvPr id="6" name="text-4">
            <a:extLst xmlns:a="http://schemas.openxmlformats.org/drawingml/2006/main">
              <a:ext uri="{FF2B5EF4-FFF2-40B4-BE49-F238E27FC236}">
                <a16:creationId xmlns:a16="http://schemas.microsoft.com/office/drawing/2014/main" id="{873AE365-6D65-464A-86C4-ADFD71DB1347}"/>
              </a:ext>
            </a:extLst>
          </p:cNvPr>
          <p:cNvSpPr>
            <a:spLocks xmlns:a="http://schemas.openxmlformats.org/drawingml/2006/main" noGrp="1"/>
          </p:cNvSpPr>
          <p:nvPr/>
        </p:nvSpPr>
        <p:spPr>
          <a:xfrm xmlns:a="http://schemas.openxmlformats.org/drawingml/2006/main">
            <a:off x="8591550" y="56388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npm run cli</a:t>
            </a:r>
          </a:p>
        </p:txBody>
      </p:sp>
    </p:spTree>
    <p:extLst>
      <p:ext uri="{BB962C8B-B14F-4D97-AF65-F5344CB8AC3E}">
        <p14:creationId xmlns:p14="http://schemas.microsoft.com/office/powerpoint/2010/main" val="65594331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4F90F3A6-ABEF-49E6-8A1E-33C68E1AE1BA}"/>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Démonstration pilotée</a:t>
            </a:r>
          </a:p>
        </p:txBody>
      </p:sp>
      <p:sp>
        <p:nvSpPr>
          <p:cNvPr id="2" name="text-1">
            <a:extLst xmlns:a="http://schemas.openxmlformats.org/drawingml/2006/main">
              <a:ext uri="{FF2B5EF4-FFF2-40B4-BE49-F238E27FC236}">
                <a16:creationId xmlns:a16="http://schemas.microsoft.com/office/drawing/2014/main" id="{248F5744-57AB-4DCE-8346-5AD2023218F7}"/>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09</a:t>
            </a:r>
          </a:p>
        </p:txBody>
      </p:sp>
      <p:sp>
        <p:nvSpPr>
          <p:cNvPr id="3" name="text-2">
            <a:extLst xmlns:a="http://schemas.openxmlformats.org/drawingml/2006/main">
              <a:ext uri="{FF2B5EF4-FFF2-40B4-BE49-F238E27FC236}">
                <a16:creationId xmlns:a16="http://schemas.microsoft.com/office/drawing/2014/main" id="{AFF0C4F2-AF9C-4881-9D40-C8DF2E3EDCA7}"/>
              </a:ext>
            </a:extLst>
          </p:cNvPr>
          <p:cNvSpPr>
            <a:spLocks xmlns:a="http://schemas.openxmlformats.org/drawingml/2006/main" noGrp="1"/>
          </p:cNvSpPr>
          <p:nvPr/>
        </p:nvSpPr>
        <p:spPr>
          <a:xfrm xmlns:a="http://schemas.openxmlformats.org/drawingml/2006/main">
            <a:off x="609600" y="13906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9900"/>
                </a:solidFill>
                <a:latin typeface="Arial"/>
                <a:ea typeface="Arial"/>
                <a:cs typeface="Arial"/>
              </a:defRPr>
            </a:pPr>
            <a:r>
              <a:rPr sz="3300" b="1">
                <a:solidFill>
                  <a:srgbClr val="FF9900"/>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3CB0C397-36B6-4E6F-A178-39C2DD61EA07}"/>
              </a:ext>
            </a:extLst>
          </p:cNvPr>
          <p:cNvSpPr>
            <a:spLocks xmlns:a="http://schemas.openxmlformats.org/drawingml/2006/main" noGrp="1"/>
          </p:cNvSpPr>
          <p:nvPr/>
        </p:nvSpPr>
        <p:spPr>
          <a:xfrm xmlns:a="http://schemas.openxmlformats.org/drawingml/2006/main">
            <a:off x="609600" y="19621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Surchauffe</a:t>
            </a:r>
          </a:p>
        </p:txBody>
      </p:sp>
      <p:sp>
        <p:nvSpPr>
          <p:cNvPr id="5" name="text-4">
            <a:extLst xmlns:a="http://schemas.openxmlformats.org/drawingml/2006/main">
              <a:ext uri="{FF2B5EF4-FFF2-40B4-BE49-F238E27FC236}">
                <a16:creationId xmlns:a16="http://schemas.microsoft.com/office/drawing/2014/main" id="{536A1113-4FB5-49DE-910D-ABC02D1C3CE8}"/>
              </a:ext>
            </a:extLst>
          </p:cNvPr>
          <p:cNvSpPr>
            <a:spLocks xmlns:a="http://schemas.openxmlformats.org/drawingml/2006/main" noGrp="1"/>
          </p:cNvSpPr>
          <p:nvPr/>
        </p:nvSpPr>
        <p:spPr>
          <a:xfrm xmlns:a="http://schemas.openxmlformats.org/drawingml/2006/main">
            <a:off x="3371850" y="13906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9900"/>
                </a:solidFill>
                <a:latin typeface="Arial"/>
                <a:ea typeface="Arial"/>
                <a:cs typeface="Arial"/>
              </a:defRPr>
            </a:pPr>
            <a:r>
              <a:rPr sz="3300" b="1">
                <a:solidFill>
                  <a:srgbClr val="FF9900"/>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7C88921-DF97-4770-96BA-45B290A8A58C}"/>
              </a:ext>
            </a:extLst>
          </p:cNvPr>
          <p:cNvSpPr>
            <a:spLocks xmlns:a="http://schemas.openxmlformats.org/drawingml/2006/main" noGrp="1"/>
          </p:cNvSpPr>
          <p:nvPr/>
        </p:nvSpPr>
        <p:spPr>
          <a:xfrm xmlns:a="http://schemas.openxmlformats.org/drawingml/2006/main">
            <a:off x="3371850" y="19621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Coupure</a:t>
            </a:r>
          </a:p>
        </p:txBody>
      </p:sp>
      <p:sp>
        <p:nvSpPr>
          <p:cNvPr id="7" name="text-6">
            <a:extLst xmlns:a="http://schemas.openxmlformats.org/drawingml/2006/main">
              <a:ext uri="{FF2B5EF4-FFF2-40B4-BE49-F238E27FC236}">
                <a16:creationId xmlns:a16="http://schemas.microsoft.com/office/drawing/2014/main" id="{928B836C-E7F3-45DA-BDFC-471AC38F3A65}"/>
              </a:ext>
            </a:extLst>
          </p:cNvPr>
          <p:cNvSpPr>
            <a:spLocks xmlns:a="http://schemas.openxmlformats.org/drawingml/2006/main" noGrp="1"/>
          </p:cNvSpPr>
          <p:nvPr/>
        </p:nvSpPr>
        <p:spPr>
          <a:xfrm xmlns:a="http://schemas.openxmlformats.org/drawingml/2006/main">
            <a:off x="6134100" y="13906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9900"/>
                </a:solidFill>
                <a:latin typeface="Arial"/>
                <a:ea typeface="Arial"/>
                <a:cs typeface="Arial"/>
              </a:defRPr>
            </a:pPr>
            <a:r>
              <a:rPr sz="3300" b="1">
                <a:solidFill>
                  <a:srgbClr val="FF9900"/>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8B5BF977-2DF8-47FE-A59E-9A9F7A29CFD6}"/>
              </a:ext>
            </a:extLst>
          </p:cNvPr>
          <p:cNvSpPr>
            <a:spLocks xmlns:a="http://schemas.openxmlformats.org/drawingml/2006/main" noGrp="1"/>
          </p:cNvSpPr>
          <p:nvPr/>
        </p:nvSpPr>
        <p:spPr>
          <a:xfrm xmlns:a="http://schemas.openxmlformats.org/drawingml/2006/main">
            <a:off x="6134100" y="19621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Reprise</a:t>
            </a:r>
          </a:p>
        </p:txBody>
      </p:sp>
      <p:sp>
        <p:nvSpPr>
          <p:cNvPr id="9" name="text-8">
            <a:extLst xmlns:a="http://schemas.openxmlformats.org/drawingml/2006/main">
              <a:ext uri="{FF2B5EF4-FFF2-40B4-BE49-F238E27FC236}">
                <a16:creationId xmlns:a16="http://schemas.microsoft.com/office/drawing/2014/main" id="{F6FF4288-682F-4669-A0A5-D99411EE2B1C}"/>
              </a:ext>
            </a:extLst>
          </p:cNvPr>
          <p:cNvSpPr>
            <a:spLocks xmlns:a="http://schemas.openxmlformats.org/drawingml/2006/main" noGrp="1"/>
          </p:cNvSpPr>
          <p:nvPr/>
        </p:nvSpPr>
        <p:spPr>
          <a:xfrm xmlns:a="http://schemas.openxmlformats.org/drawingml/2006/main">
            <a:off x="8896350" y="13906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9900"/>
                </a:solidFill>
                <a:latin typeface="Arial"/>
                <a:ea typeface="Arial"/>
                <a:cs typeface="Arial"/>
              </a:defRPr>
            </a:pPr>
            <a:r>
              <a:rPr sz="3300" b="1">
                <a:solidFill>
                  <a:srgbClr val="FF9900"/>
                </a:solidFill>
                <a:latin typeface="Arial"/>
                <a:ea typeface="Arial"/>
                <a:cs typeface="Arial"/>
              </a:rPr>
              <a:t>04</a:t>
            </a:r>
          </a:p>
        </p:txBody>
      </p:sp>
      <p:sp>
        <p:nvSpPr>
          <p:cNvPr id="10" name="text-9">
            <a:extLst xmlns:a="http://schemas.openxmlformats.org/drawingml/2006/main">
              <a:ext uri="{FF2B5EF4-FFF2-40B4-BE49-F238E27FC236}">
                <a16:creationId xmlns:a16="http://schemas.microsoft.com/office/drawing/2014/main" id="{B7AFF7F7-2A87-4434-8721-A6EBFB29CF2F}"/>
              </a:ext>
            </a:extLst>
          </p:cNvPr>
          <p:cNvSpPr>
            <a:spLocks xmlns:a="http://schemas.openxmlformats.org/drawingml/2006/main" noGrp="1"/>
          </p:cNvSpPr>
          <p:nvPr/>
        </p:nvSpPr>
        <p:spPr>
          <a:xfrm xmlns:a="http://schemas.openxmlformats.org/drawingml/2006/main">
            <a:off x="8896350" y="19621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Redémarrage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95ca70c6a0d4dbe"/>
          <a:srcRect xmlns:a="http://schemas.openxmlformats.org/drawingml/2006/main" l="10500" t="41900" r="10500" b="20000"/>
          <a:stretch xmlns:a="http://schemas.openxmlformats.org/drawingml/2006/main"/>
        </p:blipFill>
        <p:spPr>
          <a:xfrm xmlns:a="http://schemas.openxmlformats.org/drawingml/2006/main">
            <a:off x="1695450" y="2609850"/>
            <a:ext cx="8801100" cy="3429000"/>
          </a:xfrm>
          <a:prstGeom xmlns:a="http://schemas.openxmlformats.org/drawingml/2006/main" prst="rect">
            <a:avLst/>
          </a:prstGeom>
        </p:spPr>
      </p:pic>
      <p:sp>
        <p:nvSpPr>
          <p:cNvPr id="12" name="text-10">
            <a:extLst xmlns:a="http://schemas.openxmlformats.org/drawingml/2006/main">
              <a:ext uri="{FF2B5EF4-FFF2-40B4-BE49-F238E27FC236}">
                <a16:creationId xmlns:a16="http://schemas.microsoft.com/office/drawing/2014/main" id="{63044B46-0165-47C6-9050-190571346AF1}"/>
              </a:ext>
            </a:extLst>
          </p:cNvPr>
          <p:cNvSpPr>
            <a:spLocks xmlns:a="http://schemas.openxmlformats.org/drawingml/2006/main" noGrp="1"/>
          </p:cNvSpPr>
          <p:nvPr/>
        </p:nvSpPr>
        <p:spPr>
          <a:xfrm xmlns:a="http://schemas.openxmlformats.org/drawingml/2006/main">
            <a:off x="609600" y="6115050"/>
            <a:ext cx="1083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3B3B3"/>
                </a:solidFill>
                <a:latin typeface="Arial"/>
                <a:ea typeface="Arial"/>
                <a:cs typeface="Arial"/>
              </a:defRPr>
            </a:pPr>
            <a:r>
              <a:rPr sz="1875" b="0">
                <a:solidFill>
                  <a:srgbClr val="B3B3B3"/>
                </a:solidFill>
                <a:latin typeface="Arial"/>
                <a:ea typeface="Arial"/>
                <a:cs typeface="Arial"/>
              </a:rPr>
              <a:t>Le panneau observe le hub après l’envoi des vraies trames UDP.</a:t>
            </a:r>
          </a:p>
        </p:txBody>
      </p:sp>
    </p:spTree>
    <p:extLst>
      <p:ext uri="{BB962C8B-B14F-4D97-AF65-F5344CB8AC3E}">
        <p14:creationId xmlns:p14="http://schemas.microsoft.com/office/powerpoint/2010/main" val="1955812986"/>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341F92A8-DBDF-4E1C-B21E-909F191A5BFC}"/>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Bonus et validation</a:t>
            </a:r>
          </a:p>
        </p:txBody>
      </p:sp>
      <p:sp>
        <p:nvSpPr>
          <p:cNvPr id="2" name="text-1">
            <a:extLst xmlns:a="http://schemas.openxmlformats.org/drawingml/2006/main">
              <a:ext uri="{FF2B5EF4-FFF2-40B4-BE49-F238E27FC236}">
                <a16:creationId xmlns:a16="http://schemas.microsoft.com/office/drawing/2014/main" id="{12724CC8-D52E-4C3E-98E2-438FD715D8EC}"/>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10</a:t>
            </a:r>
          </a:p>
        </p:txBody>
      </p:sp>
      <p:sp>
        <p:nvSpPr>
          <p:cNvPr id="3" name="text-2">
            <a:extLst xmlns:a="http://schemas.openxmlformats.org/drawingml/2006/main">
              <a:ext uri="{FF2B5EF4-FFF2-40B4-BE49-F238E27FC236}">
                <a16:creationId xmlns:a16="http://schemas.microsoft.com/office/drawing/2014/main" id="{4A6431D3-E79D-497C-9256-5070C0BD45D8}"/>
              </a:ext>
            </a:extLst>
          </p:cNvPr>
          <p:cNvSpPr>
            <a:spLocks xmlns:a="http://schemas.openxmlformats.org/drawingml/2006/main" noGrp="1"/>
          </p:cNvSpPr>
          <p:nvPr/>
        </p:nvSpPr>
        <p:spPr>
          <a:xfrm xmlns:a="http://schemas.openxmlformats.org/drawingml/2006/main">
            <a:off x="609600" y="1762125"/>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950" b="1">
                <a:solidFill>
                  <a:srgbClr val="FF9900"/>
                </a:solidFill>
                <a:latin typeface="Arial"/>
                <a:ea typeface="Arial"/>
                <a:cs typeface="Arial"/>
              </a:defRPr>
            </a:pPr>
            <a:r>
              <a:rPr sz="10950" b="1">
                <a:solidFill>
                  <a:srgbClr val="FF9900"/>
                </a:solidFill>
                <a:latin typeface="Arial"/>
                <a:ea typeface="Arial"/>
                <a:cs typeface="Arial"/>
              </a:rPr>
              <a:t>39</a:t>
            </a:r>
          </a:p>
        </p:txBody>
      </p:sp>
      <p:sp>
        <p:nvSpPr>
          <p:cNvPr id="4" name="text-3">
            <a:extLst xmlns:a="http://schemas.openxmlformats.org/drawingml/2006/main">
              <a:ext uri="{FF2B5EF4-FFF2-40B4-BE49-F238E27FC236}">
                <a16:creationId xmlns:a16="http://schemas.microsoft.com/office/drawing/2014/main" id="{FF7187A2-CFA0-4F56-B899-9F5A72AA614D}"/>
              </a:ext>
            </a:extLst>
          </p:cNvPr>
          <p:cNvSpPr>
            <a:spLocks xmlns:a="http://schemas.openxmlformats.org/drawingml/2006/main" noGrp="1"/>
          </p:cNvSpPr>
          <p:nvPr/>
        </p:nvSpPr>
        <p:spPr>
          <a:xfrm xmlns:a="http://schemas.openxmlformats.org/drawingml/2006/main">
            <a:off x="609600" y="3429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tests réussis</a:t>
            </a:r>
          </a:p>
        </p:txBody>
      </p:sp>
      <p:sp>
        <p:nvSpPr>
          <p:cNvPr id="5" name="text-4">
            <a:extLst xmlns:a="http://schemas.openxmlformats.org/drawingml/2006/main">
              <a:ext uri="{FF2B5EF4-FFF2-40B4-BE49-F238E27FC236}">
                <a16:creationId xmlns:a16="http://schemas.microsoft.com/office/drawing/2014/main" id="{240A7CD3-0504-45E3-82F5-0DE0EDE37784}"/>
              </a:ext>
            </a:extLst>
          </p:cNvPr>
          <p:cNvSpPr>
            <a:spLocks xmlns:a="http://schemas.openxmlformats.org/drawingml/2006/main" noGrp="1"/>
          </p:cNvSpPr>
          <p:nvPr/>
        </p:nvSpPr>
        <p:spPr>
          <a:xfrm xmlns:a="http://schemas.openxmlformats.org/drawingml/2006/main">
            <a:off x="609600" y="44767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Lint, typage strict</a:t>
            </a:r>
          </a:p>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et compilation</a:t>
            </a:r>
          </a:p>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CI Linux et Windows</a:t>
            </a:r>
          </a:p>
        </p:txBody>
      </p:sp>
      <p:sp>
        <p:nvSpPr>
          <p:cNvPr id="6" name="text-5">
            <a:extLst xmlns:a="http://schemas.openxmlformats.org/drawingml/2006/main">
              <a:ext uri="{FF2B5EF4-FFF2-40B4-BE49-F238E27FC236}">
                <a16:creationId xmlns:a16="http://schemas.microsoft.com/office/drawing/2014/main" id="{CB2C11A0-AFA5-4D78-94B2-2CDBCA605322}"/>
              </a:ext>
            </a:extLst>
          </p:cNvPr>
          <p:cNvSpPr>
            <a:spLocks xmlns:a="http://schemas.openxmlformats.org/drawingml/2006/main" noGrp="1"/>
          </p:cNvSpPr>
          <p:nvPr/>
        </p:nvSpPr>
        <p:spPr>
          <a:xfrm xmlns:a="http://schemas.openxmlformats.org/drawingml/2006/main">
            <a:off x="5772150" y="174307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443A0DD8-D1EC-47D7-8B6F-AB32066D03F5}"/>
              </a:ext>
            </a:extLst>
          </p:cNvPr>
          <p:cNvSpPr>
            <a:spLocks xmlns:a="http://schemas.openxmlformats.org/drawingml/2006/main" noGrp="1"/>
          </p:cNvSpPr>
          <p:nvPr/>
        </p:nvSpPr>
        <p:spPr>
          <a:xfrm xmlns:a="http://schemas.openxmlformats.org/drawingml/2006/main">
            <a:off x="6581775" y="17430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Chaîne JSON extensible</a:t>
            </a:r>
          </a:p>
        </p:txBody>
      </p:sp>
      <p:sp>
        <p:nvSpPr>
          <p:cNvPr id="8" name="text-7">
            <a:extLst xmlns:a="http://schemas.openxmlformats.org/drawingml/2006/main">
              <a:ext uri="{FF2B5EF4-FFF2-40B4-BE49-F238E27FC236}">
                <a16:creationId xmlns:a16="http://schemas.microsoft.com/office/drawing/2014/main" id="{D484E895-6C02-4BA1-ACEC-CA5B64D2ABF0}"/>
              </a:ext>
            </a:extLst>
          </p:cNvPr>
          <p:cNvSpPr>
            <a:spLocks xmlns:a="http://schemas.openxmlformats.org/drawingml/2006/main" noGrp="1"/>
          </p:cNvSpPr>
          <p:nvPr/>
        </p:nvSpPr>
        <p:spPr>
          <a:xfrm xmlns:a="http://schemas.openxmlformats.org/drawingml/2006/main">
            <a:off x="5772150" y="24098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7CD196DD-6405-4A10-86F0-3D5AE54265C3}"/>
              </a:ext>
            </a:extLst>
          </p:cNvPr>
          <p:cNvSpPr>
            <a:spLocks xmlns:a="http://schemas.openxmlformats.org/drawingml/2006/main" noGrp="1"/>
          </p:cNvSpPr>
          <p:nvPr/>
        </p:nvSpPr>
        <p:spPr>
          <a:xfrm xmlns:a="http://schemas.openxmlformats.org/drawingml/2006/main">
            <a:off x="6581775" y="24098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Alertes temporisées</a:t>
            </a:r>
          </a:p>
        </p:txBody>
      </p:sp>
      <p:sp>
        <p:nvSpPr>
          <p:cNvPr id="10" name="text-9">
            <a:extLst xmlns:a="http://schemas.openxmlformats.org/drawingml/2006/main">
              <a:ext uri="{FF2B5EF4-FFF2-40B4-BE49-F238E27FC236}">
                <a16:creationId xmlns:a16="http://schemas.microsoft.com/office/drawing/2014/main" id="{620625A8-8792-4285-A980-1F2EEFFDE432}"/>
              </a:ext>
            </a:extLst>
          </p:cNvPr>
          <p:cNvSpPr>
            <a:spLocks xmlns:a="http://schemas.openxmlformats.org/drawingml/2006/main" noGrp="1"/>
          </p:cNvSpPr>
          <p:nvPr/>
        </p:nvSpPr>
        <p:spPr>
          <a:xfrm xmlns:a="http://schemas.openxmlformats.org/drawingml/2006/main">
            <a:off x="5772150" y="307657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5045651B-B8B9-459C-8092-471002728458}"/>
              </a:ext>
            </a:extLst>
          </p:cNvPr>
          <p:cNvSpPr>
            <a:spLocks xmlns:a="http://schemas.openxmlformats.org/drawingml/2006/main" noGrp="1"/>
          </p:cNvSpPr>
          <p:nvPr/>
        </p:nvSpPr>
        <p:spPr>
          <a:xfrm xmlns:a="http://schemas.openxmlformats.org/drawingml/2006/main">
            <a:off x="6581775" y="30765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Historique persistant</a:t>
            </a:r>
          </a:p>
        </p:txBody>
      </p:sp>
      <p:sp>
        <p:nvSpPr>
          <p:cNvPr id="12" name="text-11">
            <a:extLst xmlns:a="http://schemas.openxmlformats.org/drawingml/2006/main">
              <a:ext uri="{FF2B5EF4-FFF2-40B4-BE49-F238E27FC236}">
                <a16:creationId xmlns:a16="http://schemas.microsoft.com/office/drawing/2014/main" id="{5C3B99FD-8084-4F24-936B-5B4DD0799643}"/>
              </a:ext>
            </a:extLst>
          </p:cNvPr>
          <p:cNvSpPr>
            <a:spLocks xmlns:a="http://schemas.openxmlformats.org/drawingml/2006/main" noGrp="1"/>
          </p:cNvSpPr>
          <p:nvPr/>
        </p:nvSpPr>
        <p:spPr>
          <a:xfrm xmlns:a="http://schemas.openxmlformats.org/drawingml/2006/main">
            <a:off x="5772150" y="37433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rPr>
              <a:t>04</a:t>
            </a:r>
          </a:p>
        </p:txBody>
      </p:sp>
      <p:sp>
        <p:nvSpPr>
          <p:cNvPr id="13" name="text-12">
            <a:extLst xmlns:a="http://schemas.openxmlformats.org/drawingml/2006/main">
              <a:ext uri="{FF2B5EF4-FFF2-40B4-BE49-F238E27FC236}">
                <a16:creationId xmlns:a16="http://schemas.microsoft.com/office/drawing/2014/main" id="{B39CA9EA-BA10-4626-84F0-70F598D85358}"/>
              </a:ext>
            </a:extLst>
          </p:cNvPr>
          <p:cNvSpPr>
            <a:spLocks xmlns:a="http://schemas.openxmlformats.org/drawingml/2006/main" noGrp="1"/>
          </p:cNvSpPr>
          <p:nvPr/>
        </p:nvSpPr>
        <p:spPr>
          <a:xfrm xmlns:a="http://schemas.openxmlformats.org/drawingml/2006/main">
            <a:off x="6581775" y="37433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Wrap et redémarrage</a:t>
            </a:r>
          </a:p>
        </p:txBody>
      </p:sp>
      <p:sp>
        <p:nvSpPr>
          <p:cNvPr id="14" name="text-13">
            <a:extLst xmlns:a="http://schemas.openxmlformats.org/drawingml/2006/main">
              <a:ext uri="{FF2B5EF4-FFF2-40B4-BE49-F238E27FC236}">
                <a16:creationId xmlns:a16="http://schemas.microsoft.com/office/drawing/2014/main" id="{4BFDA119-2A2A-4A51-81E3-C45B2E7D1F69}"/>
              </a:ext>
            </a:extLst>
          </p:cNvPr>
          <p:cNvSpPr>
            <a:spLocks xmlns:a="http://schemas.openxmlformats.org/drawingml/2006/main" noGrp="1"/>
          </p:cNvSpPr>
          <p:nvPr/>
        </p:nvSpPr>
        <p:spPr>
          <a:xfrm xmlns:a="http://schemas.openxmlformats.org/drawingml/2006/main">
            <a:off x="5772150" y="441007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rPr>
              <a:t>05</a:t>
            </a:r>
          </a:p>
        </p:txBody>
      </p:sp>
      <p:sp>
        <p:nvSpPr>
          <p:cNvPr id="15" name="text-14">
            <a:extLst xmlns:a="http://schemas.openxmlformats.org/drawingml/2006/main">
              <a:ext uri="{FF2B5EF4-FFF2-40B4-BE49-F238E27FC236}">
                <a16:creationId xmlns:a16="http://schemas.microsoft.com/office/drawing/2014/main" id="{2464AB24-A201-43F3-AA6A-6101310A3289}"/>
              </a:ext>
            </a:extLst>
          </p:cNvPr>
          <p:cNvSpPr>
            <a:spLocks xmlns:a="http://schemas.openxmlformats.org/drawingml/2006/main" noGrp="1"/>
          </p:cNvSpPr>
          <p:nvPr/>
        </p:nvSpPr>
        <p:spPr>
          <a:xfrm xmlns:a="http://schemas.openxmlformats.org/drawingml/2006/main">
            <a:off x="6581775" y="44100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Mesure de débit</a:t>
            </a:r>
          </a:p>
        </p:txBody>
      </p:sp>
      <p:sp>
        <p:nvSpPr>
          <p:cNvPr id="16" name="text-15">
            <a:extLst xmlns:a="http://schemas.openxmlformats.org/drawingml/2006/main">
              <a:ext uri="{FF2B5EF4-FFF2-40B4-BE49-F238E27FC236}">
                <a16:creationId xmlns:a16="http://schemas.microsoft.com/office/drawing/2014/main" id="{7FCB67E2-2186-4CF9-9C5A-69EA018C2F0A}"/>
              </a:ext>
            </a:extLst>
          </p:cNvPr>
          <p:cNvSpPr>
            <a:spLocks xmlns:a="http://schemas.openxmlformats.org/drawingml/2006/main" noGrp="1"/>
          </p:cNvSpPr>
          <p:nvPr/>
        </p:nvSpPr>
        <p:spPr>
          <a:xfrm xmlns:a="http://schemas.openxmlformats.org/drawingml/2006/main">
            <a:off x="5772150" y="50768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rPr>
              <a:t>06</a:t>
            </a:r>
          </a:p>
        </p:txBody>
      </p:sp>
      <p:sp>
        <p:nvSpPr>
          <p:cNvPr id="17" name="text-16">
            <a:extLst xmlns:a="http://schemas.openxmlformats.org/drawingml/2006/main">
              <a:ext uri="{FF2B5EF4-FFF2-40B4-BE49-F238E27FC236}">
                <a16:creationId xmlns:a16="http://schemas.microsoft.com/office/drawing/2014/main" id="{B073D5F3-F5BF-4BEC-9B53-847F75BDB606}"/>
              </a:ext>
            </a:extLst>
          </p:cNvPr>
          <p:cNvSpPr>
            <a:spLocks xmlns:a="http://schemas.openxmlformats.org/drawingml/2006/main" noGrp="1"/>
          </p:cNvSpPr>
          <p:nvPr/>
        </p:nvSpPr>
        <p:spPr>
          <a:xfrm xmlns:a="http://schemas.openxmlformats.org/drawingml/2006/main">
            <a:off x="6581775" y="50768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Intégration continue</a:t>
            </a:r>
          </a:p>
        </p:txBody>
      </p:sp>
    </p:spTree>
    <p:extLst>
      <p:ext uri="{BB962C8B-B14F-4D97-AF65-F5344CB8AC3E}">
        <p14:creationId xmlns:p14="http://schemas.microsoft.com/office/powerpoint/2010/main" val="2380199"/>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BC662DB-30EC-4A8F-A275-4D59A4752EBE}"/>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Débit mesuré sur cette machine</a:t>
            </a:r>
          </a:p>
        </p:txBody>
      </p:sp>
      <p:sp>
        <p:nvSpPr>
          <p:cNvPr id="2" name="text-1">
            <a:extLst xmlns:a="http://schemas.openxmlformats.org/drawingml/2006/main">
              <a:ext uri="{FF2B5EF4-FFF2-40B4-BE49-F238E27FC236}">
                <a16:creationId xmlns:a16="http://schemas.microsoft.com/office/drawing/2014/main" id="{ABD6E454-1071-40FE-AAF3-9F10BF740E5D}"/>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11</a:t>
            </a:r>
          </a:p>
        </p:txBody>
      </p:sp>
      <p:graphicFrame>
        <p:nvGraphicFramePr>
          <p:cNvPr id="11" name="Chart"/>
          <p:cNvGraphicFramePr/>
          <p:nvPr/>
        </p:nvGraphicFramePr>
        <p:xfrm>
          <a:off xmlns:a="http://schemas.openxmlformats.org/drawingml/2006/main" x="533400" y="1600200"/>
          <a:ext xmlns:a="http://schemas.openxmlformats.org/drawingml/2006/main" cx="7315200" cy="3905250"/>
        </p:xfrm>
        <a:graphic xmlns:a="http://schemas.openxmlformats.org/drawingml/2006/main">
          <a:graphicData uri="http://schemas.openxmlformats.org/drawingml/2006/chart">
            <c:chart xmlns:r="http://schemas.openxmlformats.org/officeDocument/2006/relationships" xmlns:c="http://schemas.openxmlformats.org/drawingml/2006/chart" r:id="Rbb88e09e3eb84df1"/>
          </a:graphicData>
        </a:graphic>
      </p:graphicFrame>
      <p:sp>
        <p:nvSpPr>
          <p:cNvPr id="4" name="text-2">
            <a:extLst xmlns:a="http://schemas.openxmlformats.org/drawingml/2006/main">
              <a:ext uri="{FF2B5EF4-FFF2-40B4-BE49-F238E27FC236}">
                <a16:creationId xmlns:a16="http://schemas.microsoft.com/office/drawing/2014/main" id="{C9C11227-8F2E-47E2-AB3C-97826507E75E}"/>
              </a:ext>
            </a:extLst>
          </p:cNvPr>
          <p:cNvSpPr>
            <a:spLocks xmlns:a="http://schemas.openxmlformats.org/drawingml/2006/main" noGrp="1"/>
          </p:cNvSpPr>
          <p:nvPr/>
        </p:nvSpPr>
        <p:spPr>
          <a:xfrm xmlns:a="http://schemas.openxmlformats.org/drawingml/2006/main">
            <a:off x="8362950" y="16859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175" b="1">
                <a:solidFill>
                  <a:srgbClr val="FF9900"/>
                </a:solidFill>
                <a:latin typeface="Arial"/>
                <a:ea typeface="Arial"/>
                <a:cs typeface="Arial"/>
              </a:defRPr>
            </a:pPr>
            <a:r>
              <a:rPr sz="5175" b="1">
                <a:solidFill>
                  <a:srgbClr val="FF9900"/>
                </a:solidFill>
                <a:latin typeface="Arial"/>
                <a:ea typeface="Arial"/>
                <a:cs typeface="Arial"/>
              </a:rPr>
              <a:t>40 000</a:t>
            </a:r>
          </a:p>
        </p:txBody>
      </p:sp>
      <p:sp>
        <p:nvSpPr>
          <p:cNvPr id="5" name="text-3">
            <a:extLst xmlns:a="http://schemas.openxmlformats.org/drawingml/2006/main">
              <a:ext uri="{FF2B5EF4-FFF2-40B4-BE49-F238E27FC236}">
                <a16:creationId xmlns:a16="http://schemas.microsoft.com/office/drawing/2014/main" id="{89516992-02FD-48EC-A391-5B0201EE5D81}"/>
              </a:ext>
            </a:extLst>
          </p:cNvPr>
          <p:cNvSpPr>
            <a:spLocks xmlns:a="http://schemas.openxmlformats.org/drawingml/2006/main" noGrp="1"/>
          </p:cNvSpPr>
          <p:nvPr/>
        </p:nvSpPr>
        <p:spPr>
          <a:xfrm xmlns:a="http://schemas.openxmlformats.org/drawingml/2006/main">
            <a:off x="8362950" y="2609850"/>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trames/s demandées</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Plus haut palier validé</a:t>
            </a:r>
          </a:p>
        </p:txBody>
      </p:sp>
      <p:sp>
        <p:nvSpPr>
          <p:cNvPr id="6" name="text-4">
            <a:extLst xmlns:a="http://schemas.openxmlformats.org/drawingml/2006/main">
              <a:ext uri="{FF2B5EF4-FFF2-40B4-BE49-F238E27FC236}">
                <a16:creationId xmlns:a16="http://schemas.microsoft.com/office/drawing/2014/main" id="{FCE5E034-94AC-4708-B300-43E1CB51B18B}"/>
              </a:ext>
            </a:extLst>
          </p:cNvPr>
          <p:cNvSpPr>
            <a:spLocks xmlns:a="http://schemas.openxmlformats.org/drawingml/2006/main" noGrp="1"/>
          </p:cNvSpPr>
          <p:nvPr/>
        </p:nvSpPr>
        <p:spPr>
          <a:xfrm xmlns:a="http://schemas.openxmlformats.org/drawingml/2006/main">
            <a:off x="8362950" y="40767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332 041 /s</a:t>
            </a:r>
          </a:p>
        </p:txBody>
      </p:sp>
      <p:sp>
        <p:nvSpPr>
          <p:cNvPr id="7" name="text-5">
            <a:extLst xmlns:a="http://schemas.openxmlformats.org/drawingml/2006/main">
              <a:ext uri="{FF2B5EF4-FFF2-40B4-BE49-F238E27FC236}">
                <a16:creationId xmlns:a16="http://schemas.microsoft.com/office/drawing/2014/main" id="{5D16AF29-2191-4224-9192-ED1E8E0BC11D}"/>
              </a:ext>
            </a:extLst>
          </p:cNvPr>
          <p:cNvSpPr>
            <a:spLocks xmlns:a="http://schemas.openxmlformats.org/drawingml/2006/main" noGrp="1"/>
          </p:cNvSpPr>
          <p:nvPr/>
        </p:nvSpPr>
        <p:spPr>
          <a:xfrm xmlns:a="http://schemas.openxmlformats.org/drawingml/2006/main">
            <a:off x="8362950" y="479107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3B3B3"/>
                </a:solidFill>
                <a:latin typeface="Arial"/>
                <a:ea typeface="Arial"/>
                <a:cs typeface="Arial"/>
              </a:defRPr>
            </a:pPr>
            <a:r>
              <a:rPr sz="1875" b="0">
                <a:solidFill>
                  <a:srgbClr val="B3B3B3"/>
                </a:solidFill>
                <a:latin typeface="Arial"/>
                <a:ea typeface="Arial"/>
                <a:cs typeface="Arial"/>
              </a:rPr>
              <a:t>Calcul métier isolé</a:t>
            </a:r>
          </a:p>
          <a:p xmlns:a="http://schemas.openxmlformats.org/drawingml/2006/main">
            <a:pPr>
              <a:defRPr sz="1875" b="0">
                <a:solidFill>
                  <a:srgbClr val="B3B3B3"/>
                </a:solidFill>
                <a:latin typeface="Arial"/>
                <a:ea typeface="Arial"/>
                <a:cs typeface="Arial"/>
              </a:defRPr>
            </a:pPr>
            <a:r>
              <a:rPr sz="1875" b="0">
                <a:solidFill>
                  <a:srgbClr val="B3B3B3"/>
                </a:solidFill>
                <a:latin typeface="Arial"/>
                <a:ea typeface="Arial"/>
                <a:cs typeface="Arial"/>
              </a:rPr>
              <a:t>UDP, HTTP et disque exclus</a:t>
            </a:r>
          </a:p>
        </p:txBody>
      </p:sp>
      <p:sp>
        <p:nvSpPr>
          <p:cNvPr id="8" name="text-6">
            <a:extLst xmlns:a="http://schemas.openxmlformats.org/drawingml/2006/main">
              <a:ext uri="{FF2B5EF4-FFF2-40B4-BE49-F238E27FC236}">
                <a16:creationId xmlns:a16="http://schemas.microsoft.com/office/drawing/2014/main" id="{91FDC816-A589-407A-8C4D-D40F85F45307}"/>
              </a:ext>
            </a:extLst>
          </p:cNvPr>
          <p:cNvSpPr>
            <a:spLocks xmlns:a="http://schemas.openxmlformats.org/drawingml/2006/main" noGrp="1"/>
          </p:cNvSpPr>
          <p:nvPr/>
        </p:nvSpPr>
        <p:spPr>
          <a:xfrm xmlns:a="http://schemas.openxmlformats.org/drawingml/2006/main">
            <a:off x="609600" y="592455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B3B3B3"/>
                </a:solidFill>
                <a:latin typeface="Arial"/>
                <a:ea typeface="Arial"/>
                <a:cs typeface="Arial"/>
              </a:defRPr>
            </a:pPr>
            <a:r>
              <a:rPr sz="1575" b="0">
                <a:solidFill>
                  <a:srgbClr val="B3B3B3"/>
                </a:solidFill>
                <a:latin typeface="Arial"/>
                <a:ea typeface="Arial"/>
                <a:cs typeface="Arial"/>
              </a:rPr>
              <a:t>Windows 11, Ryzen 9 5900HS. Quatre émetteurs, 10 s par palier, UDP local.</a:t>
            </a:r>
          </a:p>
          <a:p xmlns:a="http://schemas.openxmlformats.org/drawingml/2006/main">
            <a:pPr>
              <a:defRPr sz="1575" b="0">
                <a:solidFill>
                  <a:srgbClr val="B3B3B3"/>
                </a:solidFill>
                <a:latin typeface="Arial"/>
                <a:ea typeface="Arial"/>
                <a:cs typeface="Arial"/>
              </a:defRPr>
            </a:pPr>
            <a:r>
              <a:rPr sz="1575" b="0">
                <a:solidFill>
                  <a:srgbClr val="B3B3B3"/>
                </a:solidFill>
                <a:latin typeface="Arial"/>
                <a:ea typeface="Arial"/>
                <a:cs typeface="Arial"/>
              </a:rPr>
              <a:t>Mesures du 30/10/2026. À 80 000 trames/s demandées : 82,83 % de livraison.</a:t>
            </a:r>
          </a:p>
        </p:txBody>
      </p:sp>
    </p:spTree>
    <p:extLst>
      <p:ext uri="{BB962C8B-B14F-4D97-AF65-F5344CB8AC3E}">
        <p14:creationId xmlns:p14="http://schemas.microsoft.com/office/powerpoint/2010/main" val="660606375"/>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C89B0BF-D6FF-4F7A-84FB-6F626A4F4C34}"/>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Limites et responsabilité</a:t>
            </a:r>
          </a:p>
        </p:txBody>
      </p:sp>
      <p:sp>
        <p:nvSpPr>
          <p:cNvPr id="2" name="text-1">
            <a:extLst xmlns:a="http://schemas.openxmlformats.org/drawingml/2006/main">
              <a:ext uri="{FF2B5EF4-FFF2-40B4-BE49-F238E27FC236}">
                <a16:creationId xmlns:a16="http://schemas.microsoft.com/office/drawing/2014/main" id="{50CB9169-AEF7-4901-9736-A63A11FDEAB8}"/>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12</a:t>
            </a:r>
          </a:p>
        </p:txBody>
      </p:sp>
      <p:sp>
        <p:nvSpPr>
          <p:cNvPr id="3" name="text-2">
            <a:extLst xmlns:a="http://schemas.openxmlformats.org/drawingml/2006/main">
              <a:ext uri="{FF2B5EF4-FFF2-40B4-BE49-F238E27FC236}">
                <a16:creationId xmlns:a16="http://schemas.microsoft.com/office/drawing/2014/main" id="{2B6C0983-CB38-46B5-B57A-D6D220AC6AC5}"/>
              </a:ext>
            </a:extLst>
          </p:cNvPr>
          <p:cNvSpPr>
            <a:spLocks xmlns:a="http://schemas.openxmlformats.org/drawingml/2006/main" noGrp="1"/>
          </p:cNvSpPr>
          <p:nvPr/>
        </p:nvSpPr>
        <p:spPr>
          <a:xfrm xmlns:a="http://schemas.openxmlformats.org/drawingml/2006/main">
            <a:off x="609600" y="161925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9900"/>
                </a:solidFill>
                <a:latin typeface="Arial"/>
                <a:ea typeface="Arial"/>
                <a:cs typeface="Arial"/>
              </a:defRPr>
            </a:pPr>
            <a:r>
              <a:rPr sz="2400" b="1">
                <a:solidFill>
                  <a:srgbClr val="FF9900"/>
                </a:solidFill>
                <a:latin typeface="Arial"/>
                <a:ea typeface="Arial"/>
                <a:cs typeface="Arial"/>
              </a:rPr>
              <a:t>Redémarrages</a:t>
            </a:r>
          </a:p>
        </p:txBody>
      </p:sp>
      <p:sp>
        <p:nvSpPr>
          <p:cNvPr id="4" name="text-3">
            <a:extLst xmlns:a="http://schemas.openxmlformats.org/drawingml/2006/main">
              <a:ext uri="{FF2B5EF4-FFF2-40B4-BE49-F238E27FC236}">
                <a16:creationId xmlns:a16="http://schemas.microsoft.com/office/drawing/2014/main" id="{3C837D7A-2049-4CD0-BD7E-1C867581EE46}"/>
              </a:ext>
            </a:extLst>
          </p:cNvPr>
          <p:cNvSpPr>
            <a:spLocks xmlns:a="http://schemas.openxmlformats.org/drawingml/2006/main" noGrp="1"/>
          </p:cNvSpPr>
          <p:nvPr/>
        </p:nvSpPr>
        <p:spPr>
          <a:xfrm xmlns:a="http://schemas.openxmlformats.org/drawingml/2006/main">
            <a:off x="4762500" y="1619250"/>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Heuristique confirmée sur plusieurs trames, sans bootId.</a:t>
            </a:r>
          </a:p>
        </p:txBody>
      </p:sp>
      <p:sp>
        <p:nvSpPr>
          <p:cNvPr id="5" name="text-4">
            <a:extLst xmlns:a="http://schemas.openxmlformats.org/drawingml/2006/main">
              <a:ext uri="{FF2B5EF4-FFF2-40B4-BE49-F238E27FC236}">
                <a16:creationId xmlns:a16="http://schemas.microsoft.com/office/drawing/2014/main" id="{D2A2121C-886E-4871-BBB1-D5C7E04C2C3B}"/>
              </a:ext>
            </a:extLst>
          </p:cNvPr>
          <p:cNvSpPr>
            <a:spLocks xmlns:a="http://schemas.openxmlformats.org/drawingml/2006/main" noGrp="1"/>
          </p:cNvSpPr>
          <p:nvPr/>
        </p:nvSpPr>
        <p:spPr>
          <a:xfrm xmlns:a="http://schemas.openxmlformats.org/drawingml/2006/main">
            <a:off x="609600" y="285750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9900"/>
                </a:solidFill>
                <a:latin typeface="Arial"/>
                <a:ea typeface="Arial"/>
                <a:cs typeface="Arial"/>
              </a:defRPr>
            </a:pPr>
            <a:r>
              <a:rPr sz="2400" b="1">
                <a:solidFill>
                  <a:srgbClr val="FF9900"/>
                </a:solidFill>
                <a:latin typeface="Arial"/>
                <a:ea typeface="Arial"/>
                <a:cs typeface="Arial"/>
              </a:rPr>
              <a:t>Exploitation</a:t>
            </a:r>
          </a:p>
        </p:txBody>
      </p:sp>
      <p:sp>
        <p:nvSpPr>
          <p:cNvPr id="6" name="text-5">
            <a:extLst xmlns:a="http://schemas.openxmlformats.org/drawingml/2006/main">
              <a:ext uri="{FF2B5EF4-FFF2-40B4-BE49-F238E27FC236}">
                <a16:creationId xmlns:a16="http://schemas.microsoft.com/office/drawing/2014/main" id="{D37667A5-D3E8-4537-A62A-CC0678FBE756}"/>
              </a:ext>
            </a:extLst>
          </p:cNvPr>
          <p:cNvSpPr>
            <a:spLocks xmlns:a="http://schemas.openxmlformats.org/drawingml/2006/main" noGrp="1"/>
          </p:cNvSpPr>
          <p:nvPr/>
        </p:nvSpPr>
        <p:spPr>
          <a:xfrm xmlns:a="http://schemas.openxmlformats.org/drawingml/2006/main">
            <a:off x="4762500" y="2857500"/>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Réseau local de confiance. Historique périodique et borné.</a:t>
            </a:r>
          </a:p>
        </p:txBody>
      </p:sp>
      <p:sp>
        <p:nvSpPr>
          <p:cNvPr id="7" name="text-6">
            <a:extLst xmlns:a="http://schemas.openxmlformats.org/drawingml/2006/main">
              <a:ext uri="{FF2B5EF4-FFF2-40B4-BE49-F238E27FC236}">
                <a16:creationId xmlns:a16="http://schemas.microsoft.com/office/drawing/2014/main" id="{B28F5E5D-DE45-4360-A0ED-F911D7EDA9EE}"/>
              </a:ext>
            </a:extLst>
          </p:cNvPr>
          <p:cNvSpPr>
            <a:spLocks xmlns:a="http://schemas.openxmlformats.org/drawingml/2006/main" noGrp="1"/>
          </p:cNvSpPr>
          <p:nvPr/>
        </p:nvSpPr>
        <p:spPr>
          <a:xfrm xmlns:a="http://schemas.openxmlformats.org/drawingml/2006/main">
            <a:off x="609600" y="4191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9900"/>
                </a:solidFill>
                <a:latin typeface="Arial"/>
                <a:ea typeface="Arial"/>
                <a:cs typeface="Arial"/>
              </a:defRPr>
            </a:pPr>
            <a:r>
              <a:rPr sz="2550" b="1">
                <a:solidFill>
                  <a:srgbClr val="FF9900"/>
                </a:solidFill>
                <a:latin typeface="Arial"/>
                <a:ea typeface="Arial"/>
                <a:cs typeface="Arial"/>
              </a:rPr>
              <a:t>Assistance IA déclarée</a:t>
            </a:r>
          </a:p>
        </p:txBody>
      </p:sp>
      <p:sp>
        <p:nvSpPr>
          <p:cNvPr id="8" name="text-7">
            <a:extLst xmlns:a="http://schemas.openxmlformats.org/drawingml/2006/main">
              <a:ext uri="{FF2B5EF4-FFF2-40B4-BE49-F238E27FC236}">
                <a16:creationId xmlns:a16="http://schemas.microsoft.com/office/drawing/2014/main" id="{D84C7F3C-D789-4F2D-83AC-917E326BC1DE}"/>
              </a:ext>
            </a:extLst>
          </p:cNvPr>
          <p:cNvSpPr>
            <a:spLocks xmlns:a="http://schemas.openxmlformats.org/drawingml/2006/main" noGrp="1"/>
          </p:cNvSpPr>
          <p:nvPr/>
        </p:nvSpPr>
        <p:spPr>
          <a:xfrm xmlns:a="http://schemas.openxmlformats.org/drawingml/2006/main">
            <a:off x="609600" y="4810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Codex a contribué à l’architecture, au code, aux tests et à la documentation.</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Chaque ligne livrée doit pouvoir être expliquée.</a:t>
            </a:r>
          </a:p>
        </p:txBody>
      </p:sp>
      <p:sp>
        <p:nvSpPr>
          <p:cNvPr id="9" name="text-8">
            <a:extLst xmlns:a="http://schemas.openxmlformats.org/drawingml/2006/main">
              <a:ext uri="{FF2B5EF4-FFF2-40B4-BE49-F238E27FC236}">
                <a16:creationId xmlns:a16="http://schemas.microsoft.com/office/drawing/2014/main" id="{9E0BE4AA-F24E-4FFB-837B-253931590D27}"/>
              </a:ext>
            </a:extLst>
          </p:cNvPr>
          <p:cNvSpPr>
            <a:spLocks xmlns:a="http://schemas.openxmlformats.org/drawingml/2006/main" noGrp="1"/>
          </p:cNvSpPr>
          <p:nvPr/>
        </p:nvSpPr>
        <p:spPr>
          <a:xfrm xmlns:a="http://schemas.openxmlformats.org/drawingml/2006/main">
            <a:off x="609600" y="61341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9900"/>
                </a:solidFill>
                <a:latin typeface="Arial"/>
                <a:ea typeface="Arial"/>
                <a:cs typeface="Arial"/>
              </a:defRPr>
            </a:pPr>
            <a:r>
              <a:rPr sz="1950" b="0">
                <a:solidFill>
                  <a:srgbClr val="FF9900"/>
                </a:solidFill>
                <a:latin typeface="Arial"/>
                <a:ea typeface="Arial"/>
                <a:cs typeface="Arial"/>
                <a:hlinkClick xmlns:r="http://schemas.openxmlformats.org/officeDocument/2006/relationships" r:id="R37fb99d2950a4731"/>
              </a:rPr>
              <a:t>github.com/sebgrtd/rattrapage</a:t>
            </a:r>
          </a:p>
        </p:txBody>
      </p:sp>
      <p:sp>
        <p:nvSpPr>
          <p:cNvPr id="10" name="text-9">
            <a:extLst xmlns:a="http://schemas.openxmlformats.org/drawingml/2006/main">
              <a:ext uri="{FF2B5EF4-FFF2-40B4-BE49-F238E27FC236}">
                <a16:creationId xmlns:a16="http://schemas.microsoft.com/office/drawing/2014/main" id="{B51A38BF-85C3-4FB4-A708-E84BDA455FC9}"/>
              </a:ext>
            </a:extLst>
          </p:cNvPr>
          <p:cNvSpPr>
            <a:spLocks xmlns:a="http://schemas.openxmlformats.org/drawingml/2006/main" noGrp="1"/>
          </p:cNvSpPr>
          <p:nvPr/>
        </p:nvSpPr>
        <p:spPr>
          <a:xfrm xmlns:a="http://schemas.openxmlformats.org/drawingml/2006/main">
            <a:off x="9620250" y="61341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3B3B3"/>
                </a:solidFill>
                <a:latin typeface="Arial"/>
                <a:ea typeface="Arial"/>
                <a:cs typeface="Arial"/>
              </a:defRPr>
            </a:pPr>
            <a:r>
              <a:rPr sz="1875" b="0">
                <a:solidFill>
                  <a:srgbClr val="B3B3B3"/>
                </a:solidFill>
                <a:latin typeface="Arial"/>
                <a:ea typeface="Arial"/>
                <a:cs typeface="Arial"/>
              </a:rPr>
              <a:t>Rendu : v1.0</a:t>
            </a:r>
          </a:p>
        </p:txBody>
      </p:sp>
    </p:spTree>
    <p:extLst>
      <p:ext uri="{BB962C8B-B14F-4D97-AF65-F5344CB8AC3E}">
        <p14:creationId xmlns:p14="http://schemas.microsoft.com/office/powerpoint/2010/main" val="27942001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ABFC603-1E16-449C-96A8-DEB9F3A5A621}"/>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Trame binaire (annexe A)</a:t>
            </a:r>
          </a:p>
        </p:txBody>
      </p:sp>
      <p:sp>
        <p:nvSpPr>
          <p:cNvPr id="2" name="text-1">
            <a:extLst xmlns:a="http://schemas.openxmlformats.org/drawingml/2006/main">
              <a:ext uri="{FF2B5EF4-FFF2-40B4-BE49-F238E27FC236}">
                <a16:creationId xmlns:a16="http://schemas.microsoft.com/office/drawing/2014/main" id="{6ABE373B-9F4B-40DC-8DD6-58F8AF2D7167}"/>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13</a:t>
            </a:r>
          </a:p>
        </p:txBody>
      </p:sp>
      <p:graphicFrame>
        <p:nvGraphicFramePr>
          <p:cNvPr id="7" name=""/>
          <p:cNvGraphicFramePr/>
          <p:nvPr/>
        </p:nvGraphicFramePr>
        <p:xfrm>
          <a:off xmlns:a="http://schemas.openxmlformats.org/drawingml/2006/main" x="609600" y="1190625"/>
          <a:ext xmlns:a="http://schemas.openxmlformats.org/drawingml/2006/main" cx="10972800" cy="4953000"/>
        </p:xfrm>
        <a:graphic xmlns:a="http://schemas.openxmlformats.org/drawingml/2006/main">
          <a:graphicData uri="http://schemas.openxmlformats.org/drawingml/2006/table">
            <a:tbl>
              <a:tblPr firstRow="0" bandRow="0"/>
              <a:tblGrid>
                <a:gridCol w="2619375"/>
                <a:gridCol w="2095500"/>
                <a:gridCol w="6257925"/>
              </a:tblGrid>
              <a:tr h="495300">
                <a:tc>
                  <a:txBody>
                    <a:bodyPr/>
                    <a:lstStyle/>
                    <a:p>
                      <a:r>
                        <a:rPr sz="1650" b="1">
                          <a:solidFill>
                            <a:srgbClr val="FF9900"/>
                          </a:solidFill>
                          <a:latin typeface="Arial"/>
                          <a:ea typeface="Arial"/>
                          <a:cs typeface="Arial"/>
                        </a:rPr>
                        <a:t>Offset</a:t>
                      </a:r>
                    </a:p>
                  </a:txBody>
                  <a:tcPr marL="152400" marR="152400" marT="95250" marB="76200" anchor="ctr">
                    <a:solidFill>
                      <a:srgbClr val="191919"/>
                    </a:solidFill>
                  </a:tcPr>
                </a:tc>
                <a:tc>
                  <a:txBody>
                    <a:bodyPr/>
                    <a:lstStyle/>
                    <a:p>
                      <a:r>
                        <a:rPr sz="1650" b="1">
                          <a:solidFill>
                            <a:srgbClr val="FF9900"/>
                          </a:solidFill>
                          <a:latin typeface="Arial"/>
                          <a:ea typeface="Arial"/>
                          <a:cs typeface="Arial"/>
                        </a:rPr>
                        <a:t>Taille</a:t>
                      </a:r>
                    </a:p>
                  </a:txBody>
                  <a:tcPr marL="152400" marR="152400" marT="95250" marB="76200" anchor="ctr">
                    <a:solidFill>
                      <a:srgbClr val="191919"/>
                    </a:solidFill>
                  </a:tcPr>
                </a:tc>
                <a:tc>
                  <a:txBody>
                    <a:bodyPr/>
                    <a:lstStyle/>
                    <a:p>
                      <a:r>
                        <a:rPr sz="1650" b="1">
                          <a:solidFill>
                            <a:srgbClr val="FF9900"/>
                          </a:solidFill>
                          <a:latin typeface="Arial"/>
                          <a:ea typeface="Arial"/>
                          <a:cs typeface="Arial"/>
                        </a:rPr>
                        <a:t>Champ</a:t>
                      </a:r>
                    </a:p>
                  </a:txBody>
                  <a:tcPr marL="152400" marR="152400" marT="95250" marB="76200" anchor="ctr">
                    <a:solidFill>
                      <a:srgbClr val="191919"/>
                    </a:solidFill>
                  </a:tcPr>
                </a:tc>
              </a:tr>
              <a:tr h="495300">
                <a:tc>
                  <a:txBody>
                    <a:bodyPr/>
                    <a:lstStyle/>
                    <a:p>
                      <a:r>
                        <a:rPr sz="1725">
                          <a:solidFill>
                            <a:srgbClr val="FFFFFF"/>
                          </a:solidFill>
                          <a:latin typeface="Arial"/>
                          <a:ea typeface="Arial"/>
                          <a:cs typeface="Arial"/>
                        </a:rPr>
                        <a:t>0</a:t>
                      </a:r>
                    </a:p>
                  </a:txBody>
                  <a:tcPr marL="152400" marR="152400" marT="95250" marB="76200" anchor="ctr">
                    <a:solidFill>
                      <a:srgbClr val="000000"/>
                    </a:solidFill>
                  </a:tcPr>
                </a:tc>
                <a:tc>
                  <a:txBody>
                    <a:bodyPr/>
                    <a:lstStyle/>
                    <a:p>
                      <a:r>
                        <a:rPr sz="1725">
                          <a:solidFill>
                            <a:srgbClr val="FFFFFF"/>
                          </a:solidFill>
                          <a:latin typeface="Arial"/>
                          <a:ea typeface="Arial"/>
                          <a:cs typeface="Arial"/>
                        </a:rPr>
                        <a:t>2</a:t>
                      </a:r>
                    </a:p>
                  </a:txBody>
                  <a:tcPr marL="152400" marR="152400" marT="95250" marB="76200" anchor="ctr">
                    <a:solidFill>
                      <a:srgbClr val="000000"/>
                    </a:solidFill>
                  </a:tcPr>
                </a:tc>
                <a:tc>
                  <a:txBody>
                    <a:bodyPr/>
                    <a:lstStyle/>
                    <a:p>
                      <a:r>
                        <a:rPr sz="1725">
                          <a:solidFill>
                            <a:srgbClr val="FFFFFF"/>
                          </a:solidFill>
                          <a:latin typeface="Arial"/>
                          <a:ea typeface="Arial"/>
                          <a:cs typeface="Arial"/>
                        </a:rPr>
                        <a:t>magic = 0x50 0x48</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2</a:t>
                      </a:r>
                    </a:p>
                  </a:txBody>
                  <a:tcPr marL="152400" marR="152400" marT="95250" marB="76200" anchor="ctr">
                    <a:solidFill>
                      <a:srgbClr val="000000"/>
                    </a:solidFill>
                  </a:tcPr>
                </a:tc>
                <a:tc>
                  <a:txBody>
                    <a:bodyPr/>
                    <a:lstStyle/>
                    <a:p>
                      <a:r>
                        <a:rPr sz="1725">
                          <a:solidFill>
                            <a:srgbClr val="FFFFFF"/>
                          </a:solidFill>
                          <a:latin typeface="Arial"/>
                          <a:ea typeface="Arial"/>
                          <a:cs typeface="Arial"/>
                        </a:rPr>
                        <a:t>1</a:t>
                      </a:r>
                    </a:p>
                  </a:txBody>
                  <a:tcPr marL="152400" marR="152400" marT="95250" marB="76200" anchor="ctr">
                    <a:solidFill>
                      <a:srgbClr val="000000"/>
                    </a:solidFill>
                  </a:tcPr>
                </a:tc>
                <a:tc>
                  <a:txBody>
                    <a:bodyPr/>
                    <a:lstStyle/>
                    <a:p>
                      <a:r>
                        <a:rPr sz="1725">
                          <a:solidFill>
                            <a:srgbClr val="FFFFFF"/>
                          </a:solidFill>
                          <a:latin typeface="Arial"/>
                          <a:ea typeface="Arial"/>
                          <a:cs typeface="Arial"/>
                        </a:rPr>
                        <a:t>version = 1</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3</a:t>
                      </a:r>
                    </a:p>
                  </a:txBody>
                  <a:tcPr marL="152400" marR="152400" marT="95250" marB="76200" anchor="ctr">
                    <a:solidFill>
                      <a:srgbClr val="000000"/>
                    </a:solidFill>
                  </a:tcPr>
                </a:tc>
                <a:tc>
                  <a:txBody>
                    <a:bodyPr/>
                    <a:lstStyle/>
                    <a:p>
                      <a:r>
                        <a:rPr sz="1725">
                          <a:solidFill>
                            <a:srgbClr val="FFFFFF"/>
                          </a:solidFill>
                          <a:latin typeface="Arial"/>
                          <a:ea typeface="Arial"/>
                          <a:cs typeface="Arial"/>
                        </a:rPr>
                        <a:t>1</a:t>
                      </a:r>
                    </a:p>
                  </a:txBody>
                  <a:tcPr marL="152400" marR="152400" marT="95250" marB="76200" anchor="ctr">
                    <a:solidFill>
                      <a:srgbClr val="000000"/>
                    </a:solidFill>
                  </a:tcPr>
                </a:tc>
                <a:tc>
                  <a:txBody>
                    <a:bodyPr/>
                    <a:lstStyle/>
                    <a:p>
                      <a:r>
                        <a:rPr sz="1725">
                          <a:solidFill>
                            <a:srgbClr val="FFFFFF"/>
                          </a:solidFill>
                          <a:latin typeface="Arial"/>
                          <a:ea typeface="Arial"/>
                          <a:cs typeface="Arial"/>
                        </a:rPr>
                        <a:t>type : télémétrie 1 / heartbeat 2</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4</a:t>
                      </a:r>
                    </a:p>
                  </a:txBody>
                  <a:tcPr marL="152400" marR="152400" marT="95250" marB="76200" anchor="ctr">
                    <a:solidFill>
                      <a:srgbClr val="000000"/>
                    </a:solidFill>
                  </a:tcPr>
                </a:tc>
                <a:tc>
                  <a:txBody>
                    <a:bodyPr/>
                    <a:lstStyle/>
                    <a:p>
                      <a:r>
                        <a:rPr sz="1725">
                          <a:solidFill>
                            <a:srgbClr val="FFFFFF"/>
                          </a:solidFill>
                          <a:latin typeface="Arial"/>
                          <a:ea typeface="Arial"/>
                          <a:cs typeface="Arial"/>
                        </a:rPr>
                        <a:t>2</a:t>
                      </a:r>
                    </a:p>
                  </a:txBody>
                  <a:tcPr marL="152400" marR="152400" marT="95250" marB="76200" anchor="ctr">
                    <a:solidFill>
                      <a:srgbClr val="000000"/>
                    </a:solidFill>
                  </a:tcPr>
                </a:tc>
                <a:tc>
                  <a:txBody>
                    <a:bodyPr/>
                    <a:lstStyle/>
                    <a:p>
                      <a:r>
                        <a:rPr sz="1725">
                          <a:solidFill>
                            <a:srgbClr val="FFFFFF"/>
                          </a:solidFill>
                          <a:latin typeface="Arial"/>
                          <a:ea typeface="Arial"/>
                          <a:cs typeface="Arial"/>
                        </a:rPr>
                        <a:t>deviceId : uint16</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6</a:t>
                      </a:r>
                    </a:p>
                  </a:txBody>
                  <a:tcPr marL="152400" marR="152400" marT="95250" marB="76200" anchor="ctr">
                    <a:solidFill>
                      <a:srgbClr val="000000"/>
                    </a:solidFill>
                  </a:tcPr>
                </a:tc>
                <a:tc>
                  <a:txBody>
                    <a:bodyPr/>
                    <a:lstStyle/>
                    <a:p>
                      <a:r>
                        <a:rPr sz="1725">
                          <a:solidFill>
                            <a:srgbClr val="FFFFFF"/>
                          </a:solidFill>
                          <a:latin typeface="Arial"/>
                          <a:ea typeface="Arial"/>
                          <a:cs typeface="Arial"/>
                        </a:rPr>
                        <a:t>4</a:t>
                      </a:r>
                    </a:p>
                  </a:txBody>
                  <a:tcPr marL="152400" marR="152400" marT="95250" marB="76200" anchor="ctr">
                    <a:solidFill>
                      <a:srgbClr val="000000"/>
                    </a:solidFill>
                  </a:tcPr>
                </a:tc>
                <a:tc>
                  <a:txBody>
                    <a:bodyPr/>
                    <a:lstStyle/>
                    <a:p>
                      <a:r>
                        <a:rPr sz="1725">
                          <a:solidFill>
                            <a:srgbClr val="FFFFFF"/>
                          </a:solidFill>
                          <a:latin typeface="Arial"/>
                          <a:ea typeface="Arial"/>
                          <a:cs typeface="Arial"/>
                        </a:rPr>
                        <a:t>seq : uint32</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10</a:t>
                      </a:r>
                    </a:p>
                  </a:txBody>
                  <a:tcPr marL="152400" marR="152400" marT="95250" marB="76200" anchor="ctr">
                    <a:solidFill>
                      <a:srgbClr val="000000"/>
                    </a:solidFill>
                  </a:tcPr>
                </a:tc>
                <a:tc>
                  <a:txBody>
                    <a:bodyPr/>
                    <a:lstStyle/>
                    <a:p>
                      <a:r>
                        <a:rPr sz="1725">
                          <a:solidFill>
                            <a:srgbClr val="FFFFFF"/>
                          </a:solidFill>
                          <a:latin typeface="Arial"/>
                          <a:ea typeface="Arial"/>
                          <a:cs typeface="Arial"/>
                        </a:rPr>
                        <a:t>4</a:t>
                      </a:r>
                    </a:p>
                  </a:txBody>
                  <a:tcPr marL="152400" marR="152400" marT="95250" marB="76200" anchor="ctr">
                    <a:solidFill>
                      <a:srgbClr val="000000"/>
                    </a:solidFill>
                  </a:tcPr>
                </a:tc>
                <a:tc>
                  <a:txBody>
                    <a:bodyPr/>
                    <a:lstStyle/>
                    <a:p>
                      <a:r>
                        <a:rPr sz="1725">
                          <a:solidFill>
                            <a:srgbClr val="FFFFFF"/>
                          </a:solidFill>
                          <a:latin typeface="Arial"/>
                          <a:ea typeface="Arial"/>
                          <a:cs typeface="Arial"/>
                        </a:rPr>
                        <a:t>uptimeMs : uint32</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14</a:t>
                      </a:r>
                    </a:p>
                  </a:txBody>
                  <a:tcPr marL="152400" marR="152400" marT="95250" marB="76200" anchor="ctr">
                    <a:solidFill>
                      <a:srgbClr val="000000"/>
                    </a:solidFill>
                  </a:tcPr>
                </a:tc>
                <a:tc>
                  <a:txBody>
                    <a:bodyPr/>
                    <a:lstStyle/>
                    <a:p>
                      <a:r>
                        <a:rPr sz="1725">
                          <a:solidFill>
                            <a:srgbClr val="FFFFFF"/>
                          </a:solidFill>
                          <a:latin typeface="Arial"/>
                          <a:ea typeface="Arial"/>
                          <a:cs typeface="Arial"/>
                        </a:rPr>
                        <a:t>1</a:t>
                      </a:r>
                    </a:p>
                  </a:txBody>
                  <a:tcPr marL="152400" marR="152400" marT="95250" marB="76200" anchor="ctr">
                    <a:solidFill>
                      <a:srgbClr val="000000"/>
                    </a:solidFill>
                  </a:tcPr>
                </a:tc>
                <a:tc>
                  <a:txBody>
                    <a:bodyPr/>
                    <a:lstStyle/>
                    <a:p>
                      <a:r>
                        <a:rPr sz="1725">
                          <a:solidFill>
                            <a:srgbClr val="FFFFFF"/>
                          </a:solidFill>
                          <a:latin typeface="Arial"/>
                          <a:ea typeface="Arial"/>
                          <a:cs typeface="Arial"/>
                        </a:rPr>
                        <a:t>count</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15</a:t>
                      </a:r>
                    </a:p>
                  </a:txBody>
                  <a:tcPr marL="152400" marR="152400" marT="95250" marB="76200" anchor="ctr">
                    <a:solidFill>
                      <a:srgbClr val="000000"/>
                    </a:solidFill>
                  </a:tcPr>
                </a:tc>
                <a:tc>
                  <a:txBody>
                    <a:bodyPr/>
                    <a:lstStyle/>
                    <a:p>
                      <a:r>
                        <a:rPr sz="1725">
                          <a:solidFill>
                            <a:srgbClr val="FFFFFF"/>
                          </a:solidFill>
                          <a:latin typeface="Arial"/>
                          <a:ea typeface="Arial"/>
                          <a:cs typeface="Arial"/>
                        </a:rPr>
                        <a:t>3 × count</a:t>
                      </a:r>
                    </a:p>
                  </a:txBody>
                  <a:tcPr marL="152400" marR="152400" marT="95250" marB="76200" anchor="ctr">
                    <a:solidFill>
                      <a:srgbClr val="000000"/>
                    </a:solidFill>
                  </a:tcPr>
                </a:tc>
                <a:tc>
                  <a:txBody>
                    <a:bodyPr/>
                    <a:lstStyle/>
                    <a:p>
                      <a:r>
                        <a:rPr sz="1725">
                          <a:solidFill>
                            <a:srgbClr val="FFFFFF"/>
                          </a:solidFill>
                          <a:latin typeface="Arial"/>
                          <a:ea typeface="Arial"/>
                          <a:cs typeface="Arial"/>
                        </a:rPr>
                        <a:t>metricId : uint8 / value : int16</a:t>
                      </a:r>
                    </a:p>
                  </a:txBody>
                  <a:tcPr marL="152400" marR="152400" marT="95250" marB="76200" anchor="ctr">
                    <a:solidFill>
                      <a:srgbClr val="000000"/>
                    </a:solidFill>
                  </a:tcPr>
                </a:tc>
              </a:tr>
              <a:tr h="495300">
                <a:tc>
                  <a:txBody>
                    <a:bodyPr/>
                    <a:lstStyle/>
                    <a:p>
                      <a:r>
                        <a:rPr sz="1725">
                          <a:solidFill>
                            <a:srgbClr val="FFFFFF"/>
                          </a:solidFill>
                          <a:latin typeface="Arial"/>
                          <a:ea typeface="Arial"/>
                          <a:cs typeface="Arial"/>
                        </a:rPr>
                        <a:t>15 + 3 × count</a:t>
                      </a:r>
                    </a:p>
                  </a:txBody>
                  <a:tcPr marL="152400" marR="152400" marT="95250" marB="76200" anchor="ctr">
                    <a:solidFill>
                      <a:srgbClr val="000000"/>
                    </a:solidFill>
                  </a:tcPr>
                </a:tc>
                <a:tc>
                  <a:txBody>
                    <a:bodyPr/>
                    <a:lstStyle/>
                    <a:p>
                      <a:r>
                        <a:rPr sz="1725">
                          <a:solidFill>
                            <a:srgbClr val="FFFFFF"/>
                          </a:solidFill>
                          <a:latin typeface="Arial"/>
                          <a:ea typeface="Arial"/>
                          <a:cs typeface="Arial"/>
                        </a:rPr>
                        <a:t>1</a:t>
                      </a:r>
                    </a:p>
                  </a:txBody>
                  <a:tcPr marL="152400" marR="152400" marT="95250" marB="76200" anchor="ctr">
                    <a:solidFill>
                      <a:srgbClr val="000000"/>
                    </a:solidFill>
                  </a:tcPr>
                </a:tc>
                <a:tc>
                  <a:txBody>
                    <a:bodyPr/>
                    <a:lstStyle/>
                    <a:p>
                      <a:r>
                        <a:rPr sz="1725">
                          <a:solidFill>
                            <a:srgbClr val="FFFFFF"/>
                          </a:solidFill>
                          <a:latin typeface="Arial"/>
                          <a:ea typeface="Arial"/>
                          <a:cs typeface="Arial"/>
                        </a:rPr>
                        <a:t>checksum XOR</a:t>
                      </a:r>
                    </a:p>
                  </a:txBody>
                  <a:tcPr marL="152400" marR="152400" marT="95250" marB="76200" anchor="ctr">
                    <a:solidFill>
                      <a:srgbClr val="000000"/>
                    </a:solidFill>
                  </a:tcPr>
                </a:tc>
              </a:tr>
            </a:tbl>
          </a:graphicData>
        </a:graphic>
      </p:graphicFrame>
      <p:sp>
        <p:nvSpPr>
          <p:cNvPr id="4" name="text-2">
            <a:extLst xmlns:a="http://schemas.openxmlformats.org/drawingml/2006/main">
              <a:ext uri="{FF2B5EF4-FFF2-40B4-BE49-F238E27FC236}">
                <a16:creationId xmlns:a16="http://schemas.microsoft.com/office/drawing/2014/main" id="{DB4D07AE-B70B-46B6-ADB3-00C90F5D7B21}"/>
              </a:ext>
            </a:extLst>
          </p:cNvPr>
          <p:cNvSpPr>
            <a:spLocks xmlns:a="http://schemas.openxmlformats.org/drawingml/2006/main" noGrp="1"/>
          </p:cNvSpPr>
          <p:nvPr/>
        </p:nvSpPr>
        <p:spPr>
          <a:xfrm xmlns:a="http://schemas.openxmlformats.org/drawingml/2006/main">
            <a:off x="609600" y="63341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9900"/>
                </a:solidFill>
                <a:latin typeface="Arial"/>
                <a:ea typeface="Arial"/>
                <a:cs typeface="Arial"/>
              </a:defRPr>
            </a:pPr>
            <a:r>
              <a:rPr sz="2025" b="0">
                <a:solidFill>
                  <a:srgbClr val="FF9900"/>
                </a:solidFill>
                <a:latin typeface="Arial"/>
                <a:ea typeface="Arial"/>
                <a:cs typeface="Arial"/>
              </a:rPr>
              <a:t>50 48 01 02 00 07 00 00 00 01 00 00 03 E8 00 F6</a:t>
            </a:r>
          </a:p>
        </p:txBody>
      </p:sp>
    </p:spTree>
    <p:extLst>
      <p:ext uri="{BB962C8B-B14F-4D97-AF65-F5344CB8AC3E}">
        <p14:creationId xmlns:p14="http://schemas.microsoft.com/office/powerpoint/2010/main" val="167934813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B4CA1A8-A9AD-4304-B77E-7AF8856B5FA7}"/>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Étape de traitement (annexe B)</a:t>
            </a:r>
          </a:p>
        </p:txBody>
      </p:sp>
      <p:sp>
        <p:nvSpPr>
          <p:cNvPr id="2" name="text-1">
            <a:extLst xmlns:a="http://schemas.openxmlformats.org/drawingml/2006/main">
              <a:ext uri="{FF2B5EF4-FFF2-40B4-BE49-F238E27FC236}">
                <a16:creationId xmlns:a16="http://schemas.microsoft.com/office/drawing/2014/main" id="{A9DA459C-767F-4DF5-81B5-8839C4C4368E}"/>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14</a:t>
            </a:r>
          </a:p>
        </p:txBody>
      </p:sp>
      <p:sp>
        <p:nvSpPr>
          <p:cNvPr id="3" name="text-2">
            <a:extLst xmlns:a="http://schemas.openxmlformats.org/drawingml/2006/main">
              <a:ext uri="{FF2B5EF4-FFF2-40B4-BE49-F238E27FC236}">
                <a16:creationId xmlns:a16="http://schemas.microsoft.com/office/drawing/2014/main" id="{29B683C3-5343-4014-8B41-03B89BBB5739}"/>
              </a:ext>
            </a:extLst>
          </p:cNvPr>
          <p:cNvSpPr>
            <a:spLocks xmlns:a="http://schemas.openxmlformats.org/drawingml/2006/main" noGrp="1"/>
          </p:cNvSpPr>
          <p:nvPr/>
        </p:nvSpPr>
        <p:spPr>
          <a:xfrm xmlns:a="http://schemas.openxmlformats.org/drawingml/2006/main">
            <a:off x="609600" y="1571625"/>
            <a:ext cx="609600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"id": "temperature-mean",</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"type": "aggregate",</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"label": "Moy. 10 s",</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"metricId": 1,</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"operation": "mean",</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"windowMs": 10000,</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  "maxSamples": 256</a:t>
            </a:r>
          </a:p>
          <a:p xmlns:a="http://schemas.openxmlformats.org/drawingml/2006/main">
            <a:pPr>
              <a:defRPr sz="2175" b="0">
                <a:solidFill>
                  <a:srgbClr val="FF9900"/>
                </a:solidFill>
                <a:latin typeface="Arial"/>
                <a:ea typeface="Arial"/>
                <a:cs typeface="Arial"/>
              </a:defRPr>
            </a:pPr>
            <a:r>
              <a:rPr sz="2175" b="0">
                <a:solidFill>
                  <a:srgbClr val="FF9900"/>
                </a:solidFill>
                <a:latin typeface="Arial"/>
                <a:ea typeface="Arial"/>
                <a:cs typeface="Arial"/>
              </a:rPr>
              <a:t>}</a:t>
            </a:r>
          </a:p>
        </p:txBody>
      </p:sp>
      <p:sp>
        <p:nvSpPr>
          <p:cNvPr id="4" name="text-3">
            <a:extLst xmlns:a="http://schemas.openxmlformats.org/drawingml/2006/main">
              <a:ext uri="{FF2B5EF4-FFF2-40B4-BE49-F238E27FC236}">
                <a16:creationId xmlns:a16="http://schemas.microsoft.com/office/drawing/2014/main" id="{631AEE05-8AA6-4A9B-BD59-3A3B4E08CEF6}"/>
              </a:ext>
            </a:extLst>
          </p:cNvPr>
          <p:cNvSpPr>
            <a:spLocks xmlns:a="http://schemas.openxmlformats.org/drawingml/2006/main" noGrp="1"/>
          </p:cNvSpPr>
          <p:nvPr/>
        </p:nvSpPr>
        <p:spPr>
          <a:xfrm xmlns:a="http://schemas.openxmlformats.org/drawingml/2006/main">
            <a:off x="7410450" y="171450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Type déjà disponible</a:t>
            </a:r>
          </a:p>
        </p:txBody>
      </p:sp>
      <p:sp>
        <p:nvSpPr>
          <p:cNvPr id="5" name="text-4">
            <a:extLst xmlns:a="http://schemas.openxmlformats.org/drawingml/2006/main">
              <a:ext uri="{FF2B5EF4-FFF2-40B4-BE49-F238E27FC236}">
                <a16:creationId xmlns:a16="http://schemas.microsoft.com/office/drawing/2014/main" id="{743F37EB-B173-4892-85F4-44C3B3E0FDFF}"/>
              </a:ext>
            </a:extLst>
          </p:cNvPr>
          <p:cNvSpPr>
            <a:spLocks xmlns:a="http://schemas.openxmlformats.org/drawingml/2006/main" noGrp="1"/>
          </p:cNvSpPr>
          <p:nvPr/>
        </p:nvSpPr>
        <p:spPr>
          <a:xfrm xmlns:a="http://schemas.openxmlformats.org/drawingml/2006/main">
            <a:off x="7410450" y="240030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Configurer une instance</a:t>
            </a:r>
          </a:p>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dans le JSON.</a:t>
            </a:r>
          </a:p>
        </p:txBody>
      </p:sp>
      <p:sp>
        <p:nvSpPr>
          <p:cNvPr id="6" name="text-5">
            <a:extLst xmlns:a="http://schemas.openxmlformats.org/drawingml/2006/main">
              <a:ext uri="{FF2B5EF4-FFF2-40B4-BE49-F238E27FC236}">
                <a16:creationId xmlns:a16="http://schemas.microsoft.com/office/drawing/2014/main" id="{5D548AE5-86DB-49B2-A84D-0863F3EF3B8B}"/>
              </a:ext>
            </a:extLst>
          </p:cNvPr>
          <p:cNvSpPr>
            <a:spLocks xmlns:a="http://schemas.openxmlformats.org/drawingml/2006/main" noGrp="1"/>
          </p:cNvSpPr>
          <p:nvPr/>
        </p:nvSpPr>
        <p:spPr>
          <a:xfrm xmlns:a="http://schemas.openxmlformats.org/drawingml/2006/main">
            <a:off x="7410450" y="37147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Nouveau type</a:t>
            </a:r>
          </a:p>
        </p:txBody>
      </p:sp>
      <p:sp>
        <p:nvSpPr>
          <p:cNvPr id="7" name="text-6">
            <a:extLst xmlns:a="http://schemas.openxmlformats.org/drawingml/2006/main">
              <a:ext uri="{FF2B5EF4-FFF2-40B4-BE49-F238E27FC236}">
                <a16:creationId xmlns:a16="http://schemas.microsoft.com/office/drawing/2014/main" id="{906D07A7-6774-4544-B7CF-EAECFE9BA5E7}"/>
              </a:ext>
            </a:extLst>
          </p:cNvPr>
          <p:cNvSpPr>
            <a:spLocks xmlns:a="http://schemas.openxmlformats.org/drawingml/2006/main" noGrp="1"/>
          </p:cNvSpPr>
          <p:nvPr/>
        </p:nvSpPr>
        <p:spPr>
          <a:xfrm xmlns:a="http://schemas.openxmlformats.org/drawingml/2006/main">
            <a:off x="7410450" y="4400550"/>
            <a:ext cx="4095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Implémenter une factory locale,</a:t>
            </a:r>
          </a:p>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puis l’enregistrer dans</a:t>
            </a:r>
          </a:p>
          <a:p xmlns:a="http://schemas.openxmlformats.org/drawingml/2006/main">
            <a:pPr>
              <a:defRPr sz="2175" b="0">
                <a:solidFill>
                  <a:srgbClr val="B3B3B3"/>
                </a:solidFill>
                <a:latin typeface="Arial"/>
                <a:ea typeface="Arial"/>
                <a:cs typeface="Arial"/>
              </a:defRPr>
            </a:pPr>
            <a:r>
              <a:rPr sz="2175" b="0">
                <a:solidFill>
                  <a:srgbClr val="B3B3B3"/>
                </a:solidFill>
                <a:latin typeface="Arial"/>
                <a:ea typeface="Arial"/>
                <a:cs typeface="Arial"/>
              </a:rPr>
              <a:t>stepFactories.</a:t>
            </a:r>
          </a:p>
        </p:txBody>
      </p:sp>
      <p:sp>
        <p:nvSpPr>
          <p:cNvPr id="8" name="text-7">
            <a:extLst xmlns:a="http://schemas.openxmlformats.org/drawingml/2006/main">
              <a:ext uri="{FF2B5EF4-FFF2-40B4-BE49-F238E27FC236}">
                <a16:creationId xmlns:a16="http://schemas.microsoft.com/office/drawing/2014/main" id="{5023A442-C9C5-4280-848F-0325B3F56D44}"/>
              </a:ext>
            </a:extLst>
          </p:cNvPr>
          <p:cNvSpPr>
            <a:spLocks xmlns:a="http://schemas.openxmlformats.org/drawingml/2006/main" noGrp="1"/>
          </p:cNvSpPr>
          <p:nvPr/>
        </p:nvSpPr>
        <p:spPr>
          <a:xfrm xmlns:a="http://schemas.openxmlformats.org/drawingml/2006/main">
            <a:off x="609600" y="60960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Filtres avant calculs. Fenêtres bornées. Validation au démarrage.</a:t>
            </a:r>
          </a:p>
        </p:txBody>
      </p:sp>
    </p:spTree>
    <p:extLst>
      <p:ext uri="{BB962C8B-B14F-4D97-AF65-F5344CB8AC3E}">
        <p14:creationId xmlns:p14="http://schemas.microsoft.com/office/powerpoint/2010/main" val="1464043079"/>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2ECACDA-67B3-4963-920A-DCA1B9BDD011}"/>
              </a:ext>
            </a:extLst>
          </p:cNvPr>
          <p:cNvSpPr>
            <a:spLocks xmlns:a="http://schemas.openxmlformats.org/drawingml/2006/main" noGrp="1"/>
          </p:cNvSpPr>
          <p:nvPr/>
        </p:nvSpPr>
        <p:spPr>
          <a:xfrm xmlns:a="http://schemas.openxmlformats.org/drawingml/2006/main">
            <a:off x="609600" y="4191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Commandes de démonstration (annexe C)</a:t>
            </a:r>
          </a:p>
        </p:txBody>
      </p:sp>
      <p:sp>
        <p:nvSpPr>
          <p:cNvPr id="2" name="text-1">
            <a:extLst xmlns:a="http://schemas.openxmlformats.org/drawingml/2006/main">
              <a:ext uri="{FF2B5EF4-FFF2-40B4-BE49-F238E27FC236}">
                <a16:creationId xmlns:a16="http://schemas.microsoft.com/office/drawing/2014/main" id="{662EDCAF-9FC7-4497-AF47-AFCED7C89AC3}"/>
              </a:ext>
            </a:extLst>
          </p:cNvPr>
          <p:cNvSpPr>
            <a:spLocks xmlns:a="http://schemas.openxmlformats.org/drawingml/2006/main" noGrp="1"/>
          </p:cNvSpPr>
          <p:nvPr/>
        </p:nvSpPr>
        <p:spPr>
          <a:xfrm xmlns:a="http://schemas.openxmlformats.org/drawingml/2006/main">
            <a:off x="11239500" y="4953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3B3B3"/>
                </a:solidFill>
                <a:latin typeface="Arial"/>
                <a:ea typeface="Arial"/>
                <a:cs typeface="Arial"/>
              </a:defRPr>
            </a:pPr>
            <a:r>
              <a:rPr sz="1425" b="0">
                <a:solidFill>
                  <a:srgbClr val="B3B3B3"/>
                </a:solidFill>
                <a:latin typeface="Arial"/>
                <a:ea typeface="Arial"/>
                <a:cs typeface="Arial"/>
              </a:rPr>
              <a:t>15</a:t>
            </a:r>
          </a:p>
        </p:txBody>
      </p:sp>
      <p:graphicFrame>
        <p:nvGraphicFramePr>
          <p:cNvPr id="9" name=""/>
          <p:cNvGraphicFramePr/>
          <p:nvPr/>
        </p:nvGraphicFramePr>
        <p:xfrm>
          <a:off xmlns:a="http://schemas.openxmlformats.org/drawingml/2006/main" x="609600" y="1571625"/>
          <a:ext xmlns:a="http://schemas.openxmlformats.org/drawingml/2006/main" cx="10972800" cy="2952750"/>
        </p:xfrm>
        <a:graphic xmlns:a="http://schemas.openxmlformats.org/drawingml/2006/main">
          <a:graphicData uri="http://schemas.openxmlformats.org/drawingml/2006/table">
            <a:tbl>
              <a:tblPr firstRow="0" bandRow="0"/>
              <a:tblGrid>
                <a:gridCol w="1790700"/>
                <a:gridCol w="5429250"/>
                <a:gridCol w="3752850"/>
              </a:tblGrid>
              <a:tr h="552450">
                <a:tc>
                  <a:txBody>
                    <a:bodyPr/>
                    <a:lstStyle/>
                    <a:p>
                      <a:r>
                        <a:rPr sz="2025" b="1">
                          <a:solidFill>
                            <a:srgbClr val="FF9900"/>
                          </a:solidFill>
                          <a:latin typeface="Arial"/>
                          <a:ea typeface="Arial"/>
                          <a:cs typeface="Arial"/>
                        </a:rPr>
                        <a:t>Terminal</a:t>
                      </a:r>
                    </a:p>
                  </a:txBody>
                  <a:tcPr marL="152400" marR="152400" marT="95250" marB="76200" anchor="ctr">
                    <a:solidFill>
                      <a:srgbClr val="191919"/>
                    </a:solidFill>
                  </a:tcPr>
                </a:tc>
                <a:tc>
                  <a:txBody>
                    <a:bodyPr/>
                    <a:lstStyle/>
                    <a:p>
                      <a:r>
                        <a:rPr sz="2025" b="1">
                          <a:solidFill>
                            <a:srgbClr val="FF9900"/>
                          </a:solidFill>
                          <a:latin typeface="Arial"/>
                          <a:ea typeface="Arial"/>
                          <a:cs typeface="Arial"/>
                        </a:rPr>
                        <a:t>Commande</a:t>
                      </a:r>
                    </a:p>
                  </a:txBody>
                  <a:tcPr marL="152400" marR="152400" marT="95250" marB="76200" anchor="ctr">
                    <a:solidFill>
                      <a:srgbClr val="191919"/>
                    </a:solidFill>
                  </a:tcPr>
                </a:tc>
                <a:tc>
                  <a:txBody>
                    <a:bodyPr/>
                    <a:lstStyle/>
                    <a:p>
                      <a:r>
                        <a:rPr sz="2025" b="1">
                          <a:solidFill>
                            <a:srgbClr val="FF9900"/>
                          </a:solidFill>
                          <a:latin typeface="Arial"/>
                          <a:ea typeface="Arial"/>
                          <a:cs typeface="Arial"/>
                        </a:rPr>
                        <a:t>Accès</a:t>
                      </a:r>
                    </a:p>
                  </a:txBody>
                  <a:tcPr marL="152400" marR="152400" marT="95250" marB="76200" anchor="ctr">
                    <a:solidFill>
                      <a:srgbClr val="191919"/>
                    </a:solidFill>
                  </a:tcPr>
                </a:tc>
              </a:tr>
              <a:tr h="800100">
                <a:tc>
                  <a:txBody>
                    <a:bodyPr/>
                    <a:lstStyle/>
                    <a:p>
                      <a:r>
                        <a:rPr sz="2100">
                          <a:solidFill>
                            <a:srgbClr val="FFFFFF"/>
                          </a:solidFill>
                          <a:latin typeface="Arial"/>
                          <a:ea typeface="Arial"/>
                          <a:cs typeface="Arial"/>
                        </a:rPr>
                        <a:t>1</a:t>
                      </a:r>
                    </a:p>
                  </a:txBody>
                  <a:tcPr marL="152400" marR="152400" marT="95250" marB="76200" anchor="ctr">
                    <a:solidFill>
                      <a:srgbClr val="000000"/>
                    </a:solidFill>
                  </a:tcPr>
                </a:tc>
                <a:tc>
                  <a:txBody>
                    <a:bodyPr/>
                    <a:lstStyle/>
                    <a:p>
                      <a:r>
                        <a:rPr sz="2100">
                          <a:solidFill>
                            <a:srgbClr val="FFFFFF"/>
                          </a:solidFill>
                          <a:latin typeface="Arial"/>
                          <a:ea typeface="Arial"/>
                          <a:cs typeface="Arial"/>
                        </a:rPr>
                        <a:t>npm run hub</a:t>
                      </a:r>
                    </a:p>
                  </a:txBody>
                  <a:tcPr marL="152400" marR="152400" marT="95250" marB="76200" anchor="ctr">
                    <a:solidFill>
                      <a:srgbClr val="000000"/>
                    </a:solidFill>
                  </a:tcPr>
                </a:tc>
                <a:tc>
                  <a:txBody>
                    <a:bodyPr/>
                    <a:lstStyle/>
                    <a:p>
                      <a:r>
                        <a:rPr sz="2100">
                          <a:solidFill>
                            <a:srgbClr val="FFFFFF"/>
                          </a:solidFill>
                          <a:latin typeface="Arial"/>
                          <a:ea typeface="Arial"/>
                          <a:cs typeface="Arial"/>
                        </a:rPr>
                        <a:t>127.0.0.1:3000</a:t>
                      </a:r>
                    </a:p>
                  </a:txBody>
                  <a:tcPr marL="152400" marR="152400" marT="95250" marB="76200" anchor="ctr">
                    <a:solidFill>
                      <a:srgbClr val="000000"/>
                    </a:solidFill>
                  </a:tcPr>
                </a:tc>
              </a:tr>
              <a:tr h="800100">
                <a:tc>
                  <a:txBody>
                    <a:bodyPr/>
                    <a:lstStyle/>
                    <a:p>
                      <a:r>
                        <a:rPr sz="2100">
                          <a:solidFill>
                            <a:srgbClr val="FFFFFF"/>
                          </a:solidFill>
                          <a:latin typeface="Arial"/>
                          <a:ea typeface="Arial"/>
                          <a:cs typeface="Arial"/>
                        </a:rPr>
                        <a:t>2</a:t>
                      </a:r>
                    </a:p>
                  </a:txBody>
                  <a:tcPr marL="152400" marR="152400" marT="95250" marB="76200" anchor="ctr">
                    <a:solidFill>
                      <a:srgbClr val="000000"/>
                    </a:solidFill>
                  </a:tcPr>
                </a:tc>
                <a:tc>
                  <a:txBody>
                    <a:bodyPr/>
                    <a:lstStyle/>
                    <a:p>
                      <a:r>
                        <a:rPr sz="2100">
                          <a:solidFill>
                            <a:srgbClr val="FFFFFF"/>
                          </a:solidFill>
                          <a:latin typeface="Arial"/>
                          <a:ea typeface="Arial"/>
                          <a:cs typeface="Arial"/>
                        </a:rPr>
                        <a:t>npm run demo:interactive</a:t>
                      </a:r>
                    </a:p>
                  </a:txBody>
                  <a:tcPr marL="152400" marR="152400" marT="95250" marB="76200" anchor="ctr">
                    <a:solidFill>
                      <a:srgbClr val="000000"/>
                    </a:solidFill>
                  </a:tcPr>
                </a:tc>
                <a:tc>
                  <a:txBody>
                    <a:bodyPr/>
                    <a:lstStyle/>
                    <a:p>
                      <a:r>
                        <a:rPr sz="2100">
                          <a:solidFill>
                            <a:srgbClr val="FFFFFF"/>
                          </a:solidFill>
                          <a:latin typeface="Arial"/>
                          <a:ea typeface="Arial"/>
                          <a:cs typeface="Arial"/>
                        </a:rPr>
                        <a:t>127.0.0.1:3100</a:t>
                      </a:r>
                    </a:p>
                  </a:txBody>
                  <a:tcPr marL="152400" marR="152400" marT="95250" marB="76200" anchor="ctr">
                    <a:solidFill>
                      <a:srgbClr val="000000"/>
                    </a:solidFill>
                  </a:tcPr>
                </a:tc>
              </a:tr>
              <a:tr h="800100">
                <a:tc>
                  <a:txBody>
                    <a:bodyPr/>
                    <a:lstStyle/>
                    <a:p>
                      <a:r>
                        <a:rPr sz="2100">
                          <a:solidFill>
                            <a:srgbClr val="FFFFFF"/>
                          </a:solidFill>
                          <a:latin typeface="Arial"/>
                          <a:ea typeface="Arial"/>
                          <a:cs typeface="Arial"/>
                        </a:rPr>
                        <a:t>3</a:t>
                      </a:r>
                    </a:p>
                  </a:txBody>
                  <a:tcPr marL="152400" marR="152400" marT="95250" marB="76200" anchor="ctr">
                    <a:solidFill>
                      <a:srgbClr val="000000"/>
                    </a:solidFill>
                  </a:tcPr>
                </a:tc>
                <a:tc>
                  <a:txBody>
                    <a:bodyPr/>
                    <a:lstStyle/>
                    <a:p>
                      <a:r>
                        <a:rPr sz="2100">
                          <a:solidFill>
                            <a:srgbClr val="FFFFFF"/>
                          </a:solidFill>
                          <a:latin typeface="Arial"/>
                          <a:ea typeface="Arial"/>
                          <a:cs typeface="Arial"/>
                        </a:rPr>
                        <a:t>npm run cli</a:t>
                      </a:r>
                    </a:p>
                  </a:txBody>
                  <a:tcPr marL="152400" marR="152400" marT="95250" marB="76200" anchor="ctr">
                    <a:solidFill>
                      <a:srgbClr val="000000"/>
                    </a:solidFill>
                  </a:tcPr>
                </a:tc>
                <a:tc>
                  <a:txBody>
                    <a:bodyPr/>
                    <a:lstStyle/>
                    <a:p>
                      <a:r>
                        <a:rPr sz="2100">
                          <a:solidFill>
                            <a:srgbClr val="FFFFFF"/>
                          </a:solidFill>
                          <a:latin typeface="Arial"/>
                          <a:ea typeface="Arial"/>
                          <a:cs typeface="Arial"/>
                        </a:rPr>
                        <a:t>Interface CLI</a:t>
                      </a:r>
                    </a:p>
                  </a:txBody>
                  <a:tcPr marL="152400" marR="152400" marT="95250" marB="76200" anchor="ctr">
                    <a:solidFill>
                      <a:srgbClr val="000000"/>
                    </a:solidFill>
                  </a:tcPr>
                </a:tc>
              </a:tr>
            </a:tbl>
          </a:graphicData>
        </a:graphic>
      </p:graphicFrame>
      <p:sp>
        <p:nvSpPr>
          <p:cNvPr id="4" name="text-2">
            <a:extLst xmlns:a="http://schemas.openxmlformats.org/drawingml/2006/main">
              <a:ext uri="{FF2B5EF4-FFF2-40B4-BE49-F238E27FC236}">
                <a16:creationId xmlns:a16="http://schemas.microsoft.com/office/drawing/2014/main" id="{1E6CCB43-7575-4427-81AD-6C1EBFFF2D31}"/>
              </a:ext>
            </a:extLst>
          </p:cNvPr>
          <p:cNvSpPr>
            <a:spLocks xmlns:a="http://schemas.openxmlformats.org/drawingml/2006/main" noGrp="1"/>
          </p:cNvSpPr>
          <p:nvPr/>
        </p:nvSpPr>
        <p:spPr>
          <a:xfrm xmlns:a="http://schemas.openxmlformats.org/drawingml/2006/main">
            <a:off x="609600" y="50006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9900"/>
                </a:solidFill>
                <a:latin typeface="Arial"/>
                <a:ea typeface="Arial"/>
                <a:cs typeface="Arial"/>
              </a:defRPr>
            </a:pPr>
            <a:r>
              <a:rPr sz="2400" b="1">
                <a:solidFill>
                  <a:srgbClr val="FF9900"/>
                </a:solidFill>
                <a:latin typeface="Arial"/>
                <a:ea typeface="Arial"/>
                <a:cs typeface="Arial"/>
              </a:rPr>
              <a:t>Défauts de transport</a:t>
            </a:r>
          </a:p>
        </p:txBody>
      </p:sp>
      <p:sp>
        <p:nvSpPr>
          <p:cNvPr id="5" name="text-3">
            <a:extLst xmlns:a="http://schemas.openxmlformats.org/drawingml/2006/main">
              <a:ext uri="{FF2B5EF4-FFF2-40B4-BE49-F238E27FC236}">
                <a16:creationId xmlns:a16="http://schemas.microsoft.com/office/drawing/2014/main" id="{545ED6CF-28EB-488D-ABFE-C29F632997E1}"/>
              </a:ext>
            </a:extLst>
          </p:cNvPr>
          <p:cNvSpPr>
            <a:spLocks xmlns:a="http://schemas.openxmlformats.org/drawingml/2006/main" noGrp="1"/>
          </p:cNvSpPr>
          <p:nvPr/>
        </p:nvSpPr>
        <p:spPr>
          <a:xfrm xmlns:a="http://schemas.openxmlformats.org/drawingml/2006/main">
            <a:off x="5429250" y="5000625"/>
            <a:ext cx="604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Arrêter le simulateur actif avec Ctrl+C,</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puis lancer npm run demo.</a:t>
            </a:r>
          </a:p>
        </p:txBody>
      </p:sp>
      <p:sp>
        <p:nvSpPr>
          <p:cNvPr id="6" name="text-4">
            <a:extLst xmlns:a="http://schemas.openxmlformats.org/drawingml/2006/main">
              <a:ext uri="{FF2B5EF4-FFF2-40B4-BE49-F238E27FC236}">
                <a16:creationId xmlns:a16="http://schemas.microsoft.com/office/drawing/2014/main" id="{65CDE77C-B299-4F66-BFD9-B55275703917}"/>
              </a:ext>
            </a:extLst>
          </p:cNvPr>
          <p:cNvSpPr>
            <a:spLocks xmlns:a="http://schemas.openxmlformats.org/drawingml/2006/main" noGrp="1"/>
          </p:cNvSpPr>
          <p:nvPr/>
        </p:nvSpPr>
        <p:spPr>
          <a:xfrm xmlns:a="http://schemas.openxmlformats.org/drawingml/2006/main">
            <a:off x="609600" y="61912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3B3B3"/>
                </a:solidFill>
                <a:latin typeface="Arial"/>
                <a:ea typeface="Arial"/>
                <a:cs typeface="Arial"/>
              </a:defRPr>
            </a:pPr>
            <a:r>
              <a:rPr sz="1950" b="0">
                <a:solidFill>
                  <a:srgbClr val="B3B3B3"/>
                </a:solidFill>
                <a:latin typeface="Arial"/>
                <a:ea typeface="Arial"/>
                <a:cs typeface="Arial"/>
              </a:rPr>
              <a:t>Validation : npm run check</a:t>
            </a:r>
          </a:p>
        </p:txBody>
      </p:sp>
    </p:spTree>
    <p:extLst>
      <p:ext uri="{BB962C8B-B14F-4D97-AF65-F5344CB8AC3E}">
        <p14:creationId xmlns:p14="http://schemas.microsoft.com/office/powerpoint/2010/main" val="1571611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2026-10-30T11:35:39.7640000Z</dcterms:created>
  <dcterms:modified xsi:type="dcterms:W3CDTF">2026-10-30T11:35:39.7640000Z</dcterms:modified>
</coreProperties>
</file>